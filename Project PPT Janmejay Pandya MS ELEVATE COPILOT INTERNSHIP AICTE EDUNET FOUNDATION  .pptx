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13.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16.xml"/>
  <Override ContentType="application/vnd.openxmlformats-officedocument.presentationml.slide+xml" PartName="/ppt/slides/slide14.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7.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tags+xml" PartName="/ppt/tags/tag2.xml"/>
  <Override ContentType="application/vnd.openxmlformats-officedocument.presentationml.tags+xml" PartName="/ppt/tags/tag3.xml"/>
  <Override ContentType="application/vnd.openxmlformats-officedocument.presentationml.viewProps+xml" PartName="/ppt/viewProps7.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4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6858000" cx="12192000"/>
  <p:notesSz cx="6858000" cy="9144000"/>
  <p:defaultTextStyle>
    <a:defPPr lvl="0">
      <a:defRPr lang="en-US"/>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extLst>
    <p:ext uri="{EFAFB233-063F-42B5-8137-9DF3F51BA10A}">
      <p15:sldGuideLst>
        <p15:guide id="1" orient="horz" pos="672">
          <p15:clr>
            <a:srgbClr val="A4A3A4"/>
          </p15:clr>
        </p15:guide>
        <p15:guide id="2" pos="312">
          <p15:clr>
            <a:srgbClr val="A4A3A4"/>
          </p15:clr>
        </p15:guide>
        <p15:guide id="3" orient="horz" pos="912">
          <p15:clr>
            <a:srgbClr val="A4A3A4"/>
          </p15:clr>
        </p15:guide>
      </p15:sldGuideLst>
    </p:ext>
  </p:extLst>
</p:presentation>
</file>

<file path=ppt/presProps7.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7.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72" orient="horz"/>
        <p:guide pos="312"/>
        <p:guide pos="912"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20.xml"/><Relationship Id="rId22" Type="http://schemas.openxmlformats.org/officeDocument/2006/relationships/slide" Target="slides/slide22.xml"/><Relationship Id="rId21" Type="http://schemas.openxmlformats.org/officeDocument/2006/relationships/slide" Target="slides/slide21.xml"/><Relationship Id="rId24" Type="http://schemas.openxmlformats.org/officeDocument/2006/relationships/slide" Target="slides/slide9.xml"/><Relationship Id="rId23"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viewProps" Target="viewProps7.xml"/><Relationship Id="rId3" Type="http://schemas.openxmlformats.org/officeDocument/2006/relationships/presProps" Target="presProps7.xml"/><Relationship Id="rId4" Type="http://schemas.openxmlformats.org/officeDocument/2006/relationships/slideMaster" Target="slideMasters/slideMaster2.xml"/><Relationship Id="rId9" Type="http://schemas.openxmlformats.org/officeDocument/2006/relationships/slide" Target="slides/slide3.xml"/><Relationship Id="rId26" Type="http://schemas.openxmlformats.org/officeDocument/2006/relationships/slide" Target="slides/slide11.xml"/><Relationship Id="rId25"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13.xml"/><Relationship Id="rId12" Type="http://schemas.openxmlformats.org/officeDocument/2006/relationships/slide" Target="slides/slide12.xml"/><Relationship Id="rId15" Type="http://schemas.openxmlformats.org/officeDocument/2006/relationships/slide" Target="slides/slide15.xml"/><Relationship Id="rId14" Type="http://schemas.openxmlformats.org/officeDocument/2006/relationships/slide" Target="slides/slide14.xml"/><Relationship Id="rId17" Type="http://schemas.openxmlformats.org/officeDocument/2006/relationships/slide" Target="slides/slide17.xml"/><Relationship Id="rId16" Type="http://schemas.openxmlformats.org/officeDocument/2006/relationships/slide" Target="slides/slide16.xml"/><Relationship Id="rId19" Type="http://schemas.openxmlformats.org/officeDocument/2006/relationships/slide" Target="slides/slide19.xml"/><Relationship Id="rId18"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12-01-2026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11</a:t>
            </a:fld>
            <a:endParaRPr lang="en-IN"/>
          </a:p>
        </p:txBody>
      </p:sp>
    </p:spTree>
    <p:extLst>
      <p:ext uri="{BB962C8B-B14F-4D97-AF65-F5344CB8AC3E}">
        <p14:creationId xmlns:p14="http://schemas.microsoft.com/office/powerpoint/2010/main" val="2076854536"/>
      </p:ext>
    </p:extLst>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7" name="Shape 2087"/>
        <p:cNvGrpSpPr/>
        <p:nvPr/>
      </p:nvGrpSpPr>
      <p:grpSpPr>
        <a:xfrm>
          <a:off x="0" y="0"/>
          <a:ext cx="0" cy="0"/>
          <a:chOff x="0" y="0"/>
          <a:chExt cx="0" cy="0"/>
        </a:xfrm>
      </p:grpSpPr>
      <p:sp>
        <p:nvSpPr>
          <p:cNvPr id="2088" name="Google Shape;2088;g14cd17deecbcebd9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9" name="Google Shape;2089;g14cd17deecbcebd9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3" name="Shape 2093"/>
        <p:cNvGrpSpPr/>
        <p:nvPr/>
      </p:nvGrpSpPr>
      <p:grpSpPr>
        <a:xfrm>
          <a:off x="0" y="0"/>
          <a:ext cx="0" cy="0"/>
          <a:chOff x="0" y="0"/>
          <a:chExt cx="0" cy="0"/>
        </a:xfrm>
      </p:grpSpPr>
      <p:sp>
        <p:nvSpPr>
          <p:cNvPr id="2094" name="Google Shape;2094;g14cd17deecbcebd9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5" name="Google Shape;2095;g14cd17deecbcebd9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9" name="Shape 2099"/>
        <p:cNvGrpSpPr/>
        <p:nvPr/>
      </p:nvGrpSpPr>
      <p:grpSpPr>
        <a:xfrm>
          <a:off x="0" y="0"/>
          <a:ext cx="0" cy="0"/>
          <a:chOff x="0" y="0"/>
          <a:chExt cx="0" cy="0"/>
        </a:xfrm>
      </p:grpSpPr>
      <p:sp>
        <p:nvSpPr>
          <p:cNvPr id="2100" name="Google Shape;2100;g14cd17deecbcebd9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1" name="Google Shape;2101;g14cd17deecbcebd9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5" name="Shape 2105"/>
        <p:cNvGrpSpPr/>
        <p:nvPr/>
      </p:nvGrpSpPr>
      <p:grpSpPr>
        <a:xfrm>
          <a:off x="0" y="0"/>
          <a:ext cx="0" cy="0"/>
          <a:chOff x="0" y="0"/>
          <a:chExt cx="0" cy="0"/>
        </a:xfrm>
      </p:grpSpPr>
      <p:sp>
        <p:nvSpPr>
          <p:cNvPr id="2106" name="Google Shape;2106;g14cd17deecbcebd9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7" name="Google Shape;2107;g14cd17deecbcebd9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1" name="Shape 2111"/>
        <p:cNvGrpSpPr/>
        <p:nvPr/>
      </p:nvGrpSpPr>
      <p:grpSpPr>
        <a:xfrm>
          <a:off x="0" y="0"/>
          <a:ext cx="0" cy="0"/>
          <a:chOff x="0" y="0"/>
          <a:chExt cx="0" cy="0"/>
        </a:xfrm>
      </p:grpSpPr>
      <p:sp>
        <p:nvSpPr>
          <p:cNvPr id="2112" name="Google Shape;2112;g14cd17deecbcebd9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3" name="Google Shape;2113;g14cd17deecbcebd9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7" name="Shape 2117"/>
        <p:cNvGrpSpPr/>
        <p:nvPr/>
      </p:nvGrpSpPr>
      <p:grpSpPr>
        <a:xfrm>
          <a:off x="0" y="0"/>
          <a:ext cx="0" cy="0"/>
          <a:chOff x="0" y="0"/>
          <a:chExt cx="0" cy="0"/>
        </a:xfrm>
      </p:grpSpPr>
      <p:sp>
        <p:nvSpPr>
          <p:cNvPr id="2118" name="Google Shape;2118;g14cd17deecbcebd9_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9" name="Google Shape;2119;g14cd17deecbcebd9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3" name="Shape 2123"/>
        <p:cNvGrpSpPr/>
        <p:nvPr/>
      </p:nvGrpSpPr>
      <p:grpSpPr>
        <a:xfrm>
          <a:off x="0" y="0"/>
          <a:ext cx="0" cy="0"/>
          <a:chOff x="0" y="0"/>
          <a:chExt cx="0" cy="0"/>
        </a:xfrm>
      </p:grpSpPr>
      <p:sp>
        <p:nvSpPr>
          <p:cNvPr id="2124" name="Google Shape;2124;g14cd17deecbcebd9_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5" name="Google Shape;2125;g14cd17deecbcebd9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9" name="Shape 2129"/>
        <p:cNvGrpSpPr/>
        <p:nvPr/>
      </p:nvGrpSpPr>
      <p:grpSpPr>
        <a:xfrm>
          <a:off x="0" y="0"/>
          <a:ext cx="0" cy="0"/>
          <a:chOff x="0" y="0"/>
          <a:chExt cx="0" cy="0"/>
        </a:xfrm>
      </p:grpSpPr>
      <p:sp>
        <p:nvSpPr>
          <p:cNvPr id="2130" name="Google Shape;2130;g14cd17deecbcebd9_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1" name="Google Shape;2131;g14cd17deecbcebd9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5" name="Shape 2135"/>
        <p:cNvGrpSpPr/>
        <p:nvPr/>
      </p:nvGrpSpPr>
      <p:grpSpPr>
        <a:xfrm>
          <a:off x="0" y="0"/>
          <a:ext cx="0" cy="0"/>
          <a:chOff x="0" y="0"/>
          <a:chExt cx="0" cy="0"/>
        </a:xfrm>
      </p:grpSpPr>
      <p:sp>
        <p:nvSpPr>
          <p:cNvPr id="2136" name="Google Shape;2136;g14cd17deecbcebd9_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7" name="Google Shape;2137;g14cd17deecbcebd9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1" name="Shape 2141"/>
        <p:cNvGrpSpPr/>
        <p:nvPr/>
      </p:nvGrpSpPr>
      <p:grpSpPr>
        <a:xfrm>
          <a:off x="0" y="0"/>
          <a:ext cx="0" cy="0"/>
          <a:chOff x="0" y="0"/>
          <a:chExt cx="0" cy="0"/>
        </a:xfrm>
      </p:grpSpPr>
      <p:sp>
        <p:nvSpPr>
          <p:cNvPr id="2142" name="Google Shape;2142;g14cd17deecbcebd9_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3" name="Google Shape;2143;g14cd17deecbcebd9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7" name="Shape 2147"/>
        <p:cNvGrpSpPr/>
        <p:nvPr/>
      </p:nvGrpSpPr>
      <p:grpSpPr>
        <a:xfrm>
          <a:off x="0" y="0"/>
          <a:ext cx="0" cy="0"/>
          <a:chOff x="0" y="0"/>
          <a:chExt cx="0" cy="0"/>
        </a:xfrm>
      </p:grpSpPr>
      <p:sp>
        <p:nvSpPr>
          <p:cNvPr id="2148" name="Google Shape;2148;g14cd17deecbcebd9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9" name="Google Shape;2149;g14cd17deecbcebd9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12-01-2026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1/12/2026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12/01/2026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Janmejay-Pandya01/MS-ELEVATE-COPILOT-INTERNSHIP-AICTE-EDUNET-FOUNDATION.git"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6" name="Shape 2166"/>
        <p:cNvGrpSpPr/>
        <p:nvPr/>
      </p:nvGrpSpPr>
      <p:grpSpPr>
        <a:xfrm>
          <a:off x="0" y="0"/>
          <a:ext cx="0" cy="0"/>
          <a:chOff x="0" y="0"/>
          <a:chExt cx="0" cy="0"/>
        </a:xfrm>
      </p:grpSpPr>
      <p:sp>
        <p:nvSpPr>
          <p:cNvPr id="2167" name="Google Shape;2167;p1"/>
          <p:cNvSpPr/>
          <p:nvPr/>
        </p:nvSpPr>
        <p:spPr>
          <a:xfrm>
            <a:off x="-32657" y="3429000"/>
            <a:ext cx="424500" cy="3429000"/>
          </a:xfrm>
          <a:prstGeom prst="rect">
            <a:avLst/>
          </a:prstGeom>
          <a:solidFill>
            <a:srgbClr val="34A75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168" name="Google Shape;2168;p1"/>
          <p:cNvSpPr/>
          <p:nvPr/>
        </p:nvSpPr>
        <p:spPr>
          <a:xfrm>
            <a:off x="0" y="0"/>
            <a:ext cx="228600" cy="3429000"/>
          </a:xfrm>
          <a:prstGeom prst="rect">
            <a:avLst/>
          </a:prstGeom>
          <a:solidFill>
            <a:srgbClr val="26357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169" name="Google Shape;2169;p1"/>
          <p:cNvSpPr/>
          <p:nvPr/>
        </p:nvSpPr>
        <p:spPr>
          <a:xfrm>
            <a:off x="7913913" y="0"/>
            <a:ext cx="4985700" cy="315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170" name="Google Shape;2170;p1"/>
          <p:cNvSpPr/>
          <p:nvPr/>
        </p:nvSpPr>
        <p:spPr>
          <a:xfrm>
            <a:off x="-32657" y="6509659"/>
            <a:ext cx="12888600" cy="348300"/>
          </a:xfrm>
          <a:prstGeom prst="rect">
            <a:avLst/>
          </a:prstGeom>
          <a:solidFill>
            <a:srgbClr val="34A75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 black background with grey text&#10;&#10;AI-generated content may be incorrect." id="2171" name="Google Shape;2171;p1"/>
          <p:cNvPicPr preferRelativeResize="0"/>
          <p:nvPr/>
        </p:nvPicPr>
        <p:blipFill rotWithShape="1">
          <a:blip r:embed="rId3">
            <a:alphaModFix/>
          </a:blip>
          <a:srcRect b="0" l="0" r="0" t="0"/>
          <a:stretch/>
        </p:blipFill>
        <p:spPr>
          <a:xfrm>
            <a:off x="597304" y="316620"/>
            <a:ext cx="1725854" cy="562924"/>
          </a:xfrm>
          <a:prstGeom prst="rect">
            <a:avLst/>
          </a:prstGeom>
          <a:noFill/>
          <a:ln>
            <a:noFill/>
          </a:ln>
        </p:spPr>
      </p:pic>
      <p:sp>
        <p:nvSpPr>
          <p:cNvPr id="2172" name="Google Shape;2172;p1"/>
          <p:cNvSpPr/>
          <p:nvPr/>
        </p:nvSpPr>
        <p:spPr>
          <a:xfrm>
            <a:off x="0" y="0"/>
            <a:ext cx="12192000" cy="685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173" name="Google Shape;2173;p1"/>
          <p:cNvSpPr/>
          <p:nvPr/>
        </p:nvSpPr>
        <p:spPr>
          <a:xfrm>
            <a:off x="515779" y="1056317"/>
            <a:ext cx="4746900" cy="2506800"/>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2800"/>
              <a:buFont typeface="Play"/>
              <a:buNone/>
            </a:pPr>
            <a:r>
              <a:rPr b="1" i="0" lang="en-IN" sz="2800" u="none" cap="none" strike="noStrike">
                <a:solidFill>
                  <a:srgbClr val="F1C232"/>
                </a:solidFill>
                <a:latin typeface="Play"/>
                <a:ea typeface="Play"/>
                <a:cs typeface="Play"/>
                <a:sym typeface="Play"/>
              </a:rPr>
              <a:t>CAPSTONE PROJECT</a:t>
            </a:r>
            <a:endParaRPr sz="5100">
              <a:solidFill>
                <a:srgbClr val="F1C232"/>
              </a:solidFill>
            </a:endParaRPr>
          </a:p>
          <a:p>
            <a:pPr indent="0" lvl="0" marL="0" marR="0" rtl="0" algn="l">
              <a:lnSpc>
                <a:spcPct val="90000"/>
              </a:lnSpc>
              <a:spcBef>
                <a:spcPts val="0"/>
              </a:spcBef>
              <a:spcAft>
                <a:spcPts val="0"/>
              </a:spcAft>
              <a:buClr>
                <a:schemeClr val="dk1"/>
              </a:buClr>
              <a:buSzPts val="2800"/>
              <a:buFont typeface="Play"/>
              <a:buNone/>
            </a:pPr>
            <a:r>
              <a:rPr b="1" lang="en-IN" sz="5100">
                <a:solidFill>
                  <a:srgbClr val="F1C232"/>
                </a:solidFill>
              </a:rPr>
              <a:t>AI Powered Email and Notice Agent</a:t>
            </a:r>
            <a:endParaRPr b="1" i="0" sz="5100" u="none" cap="none" strike="noStrike">
              <a:solidFill>
                <a:schemeClr val="dk1"/>
              </a:solidFill>
              <a:latin typeface="Play"/>
              <a:ea typeface="Play"/>
              <a:cs typeface="Play"/>
              <a:sym typeface="Play"/>
            </a:endParaRPr>
          </a:p>
        </p:txBody>
      </p:sp>
      <p:sp>
        <p:nvSpPr>
          <p:cNvPr id="2174" name="Google Shape;2174;p1"/>
          <p:cNvSpPr/>
          <p:nvPr/>
        </p:nvSpPr>
        <p:spPr>
          <a:xfrm>
            <a:off x="594125" y="3739900"/>
            <a:ext cx="4590900" cy="1915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600"/>
              <a:buFont typeface="Arial"/>
              <a:buNone/>
            </a:pPr>
            <a:r>
              <a:rPr b="1" i="0" lang="en-IN" sz="1600" u="none" cap="none" strike="noStrike">
                <a:solidFill>
                  <a:schemeClr val="dk1"/>
                </a:solidFill>
                <a:latin typeface="Arial"/>
                <a:ea typeface="Arial"/>
                <a:cs typeface="Arial"/>
                <a:sym typeface="Arial"/>
              </a:rPr>
              <a:t>PRESENTED BY: Janmejay Y. Pandya</a:t>
            </a:r>
            <a:endParaRPr b="0" i="0" sz="1600" u="none" cap="none" strike="noStrike">
              <a:solidFill>
                <a:schemeClr val="dk1"/>
              </a:solidFill>
              <a:latin typeface="Arial"/>
              <a:ea typeface="Arial"/>
              <a:cs typeface="Arial"/>
              <a:sym typeface="Arial"/>
            </a:endParaRPr>
          </a:p>
          <a:p>
            <a:pPr indent="0" lvl="0" marL="0" marR="0" rtl="0" algn="l">
              <a:lnSpc>
                <a:spcPct val="90000"/>
              </a:lnSpc>
              <a:spcBef>
                <a:spcPts val="1600"/>
              </a:spcBef>
              <a:spcAft>
                <a:spcPts val="0"/>
              </a:spcAft>
              <a:buClr>
                <a:schemeClr val="dk1"/>
              </a:buClr>
              <a:buSzPts val="1600"/>
              <a:buFont typeface="Arial"/>
              <a:buNone/>
            </a:pPr>
            <a:r>
              <a:rPr b="1" i="0" lang="en-IN" sz="1600" u="none" cap="none" strike="noStrike">
                <a:solidFill>
                  <a:schemeClr val="dk1"/>
                </a:solidFill>
                <a:latin typeface="Arial"/>
                <a:ea typeface="Arial"/>
                <a:cs typeface="Arial"/>
                <a:sym typeface="Arial"/>
              </a:rPr>
              <a:t>STUDENT NAME: Janmejay Y. Pandya</a:t>
            </a:r>
            <a:endParaRPr b="0" i="0" sz="1800" u="none" cap="none" strike="noStrike">
              <a:solidFill>
                <a:schemeClr val="dk1"/>
              </a:solidFill>
              <a:latin typeface="Arial"/>
              <a:ea typeface="Arial"/>
              <a:cs typeface="Arial"/>
              <a:sym typeface="Arial"/>
            </a:endParaRPr>
          </a:p>
          <a:p>
            <a:pPr indent="0" lvl="0" marL="0" marR="0" rtl="0" algn="l">
              <a:lnSpc>
                <a:spcPct val="90000"/>
              </a:lnSpc>
              <a:spcBef>
                <a:spcPts val="1600"/>
              </a:spcBef>
              <a:spcAft>
                <a:spcPts val="0"/>
              </a:spcAft>
              <a:buClr>
                <a:schemeClr val="dk1"/>
              </a:buClr>
              <a:buSzPts val="1600"/>
              <a:buFont typeface="Arial"/>
              <a:buNone/>
            </a:pPr>
            <a:r>
              <a:rPr b="1" i="0" lang="en-IN" sz="1600" u="none" cap="none" strike="noStrike">
                <a:solidFill>
                  <a:schemeClr val="dk1"/>
                </a:solidFill>
                <a:latin typeface="Arial"/>
                <a:ea typeface="Arial"/>
                <a:cs typeface="Arial"/>
                <a:sym typeface="Arial"/>
              </a:rPr>
              <a:t>COLLEGE NAME: LDRP- ITR</a:t>
            </a:r>
            <a:endParaRPr b="0" i="0" sz="1800" u="none" cap="none" strike="noStrike">
              <a:solidFill>
                <a:schemeClr val="dk1"/>
              </a:solidFill>
              <a:latin typeface="Arial"/>
              <a:ea typeface="Arial"/>
              <a:cs typeface="Arial"/>
              <a:sym typeface="Arial"/>
            </a:endParaRPr>
          </a:p>
          <a:p>
            <a:pPr indent="0" lvl="0" marL="0" marR="0" rtl="0" algn="l">
              <a:lnSpc>
                <a:spcPct val="90000"/>
              </a:lnSpc>
              <a:spcBef>
                <a:spcPts val="1600"/>
              </a:spcBef>
              <a:spcAft>
                <a:spcPts val="0"/>
              </a:spcAft>
              <a:buClr>
                <a:schemeClr val="dk1"/>
              </a:buClr>
              <a:buSzPts val="1600"/>
              <a:buFont typeface="Arial"/>
              <a:buNone/>
            </a:pPr>
            <a:r>
              <a:rPr b="1" i="0" lang="en-IN" sz="1600" u="none" cap="none" strike="noStrike">
                <a:solidFill>
                  <a:schemeClr val="dk1"/>
                </a:solidFill>
                <a:latin typeface="Arial"/>
                <a:ea typeface="Arial"/>
                <a:cs typeface="Arial"/>
                <a:sym typeface="Arial"/>
              </a:rPr>
              <a:t>DEPARTMENT: Computer Engineering </a:t>
            </a:r>
            <a:endParaRPr b="0" i="0" sz="1800" u="none" cap="none" strike="noStrike">
              <a:solidFill>
                <a:schemeClr val="dk1"/>
              </a:solidFill>
              <a:latin typeface="Arial"/>
              <a:ea typeface="Arial"/>
              <a:cs typeface="Arial"/>
              <a:sym typeface="Arial"/>
            </a:endParaRPr>
          </a:p>
          <a:p>
            <a:pPr indent="0" lvl="0" marL="0" marR="0" rtl="0" algn="l">
              <a:lnSpc>
                <a:spcPct val="90000"/>
              </a:lnSpc>
              <a:spcBef>
                <a:spcPts val="1600"/>
              </a:spcBef>
              <a:spcAft>
                <a:spcPts val="0"/>
              </a:spcAft>
              <a:buClr>
                <a:schemeClr val="dk1"/>
              </a:buClr>
              <a:buSzPts val="1600"/>
              <a:buFont typeface="Arial"/>
              <a:buNone/>
            </a:pPr>
            <a:r>
              <a:rPr b="1" i="0" lang="en-IN" sz="1600" u="none" cap="none" strike="noStrike">
                <a:solidFill>
                  <a:schemeClr val="dk1"/>
                </a:solidFill>
                <a:latin typeface="Arial"/>
                <a:ea typeface="Arial"/>
                <a:cs typeface="Arial"/>
                <a:sym typeface="Arial"/>
              </a:rPr>
              <a:t>EMAIL ID: janmejay.pandya.ldrp@gmail.com</a:t>
            </a:r>
            <a:endParaRPr b="0" i="0" sz="1800" u="none" cap="none" strike="noStrike">
              <a:solidFill>
                <a:schemeClr val="dk1"/>
              </a:solidFill>
              <a:latin typeface="Arial"/>
              <a:ea typeface="Arial"/>
              <a:cs typeface="Arial"/>
              <a:sym typeface="Arial"/>
            </a:endParaRPr>
          </a:p>
        </p:txBody>
      </p:sp>
      <p:sp>
        <p:nvSpPr>
          <p:cNvPr id="2175" name="Google Shape;2175;p1"/>
          <p:cNvSpPr/>
          <p:nvPr/>
        </p:nvSpPr>
        <p:spPr>
          <a:xfrm>
            <a:off x="5386598" y="269324"/>
            <a:ext cx="6116700" cy="6208800"/>
          </a:xfrm>
          <a:prstGeom prst="rect">
            <a:avLst/>
          </a:prstGeom>
          <a:solidFill>
            <a:schemeClr val="lt1"/>
          </a:solidFill>
          <a:ln>
            <a:noFill/>
          </a:ln>
          <a:effectLst>
            <a:outerShdw blurRad="139700" rotWithShape="0" algn="t" dir="5400000" dist="127000">
              <a:srgbClr val="000000">
                <a:alpha val="1451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2176" name="Google Shape;2176;p1"/>
          <p:cNvPicPr preferRelativeResize="0"/>
          <p:nvPr/>
        </p:nvPicPr>
        <p:blipFill rotWithShape="1">
          <a:blip r:embed="rId4">
            <a:alphaModFix/>
          </a:blip>
          <a:srcRect b="0" l="0" r="0" t="0"/>
          <a:stretch/>
        </p:blipFill>
        <p:spPr>
          <a:xfrm>
            <a:off x="6322388" y="724350"/>
            <a:ext cx="4245200" cy="5298725"/>
          </a:xfrm>
          <a:prstGeom prst="rect">
            <a:avLst/>
          </a:prstGeom>
          <a:solidFill>
            <a:schemeClr val="lt1"/>
          </a:solidFill>
          <a:ln cap="flat" cmpd="sng" w="19050">
            <a:solidFill>
              <a:schemeClr val="dk2"/>
            </a:solidFill>
            <a:prstDash val="solid"/>
            <a:round/>
            <a:headEnd len="sm" w="sm" type="none"/>
            <a:tailEnd len="sm" w="sm" type="none"/>
          </a:ln>
          <a:effectLst>
            <a:outerShdw blurRad="139700" rotWithShape="0" algn="t" dir="5400000" dist="127000">
              <a:srgbClr val="000000">
                <a:alpha val="1451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77" name="Shape 2177"/>
        <p:cNvGrpSpPr/>
        <p:nvPr/>
      </p:nvGrpSpPr>
      <p:grpSpPr>
        <a:xfrm>
          <a:off x="0" y="0"/>
          <a:ext cx="0" cy="0"/>
          <a:chOff x="0" y="0"/>
          <a:chExt cx="0" cy="0"/>
        </a:xfrm>
      </p:grpSpPr>
      <p:sp>
        <p:nvSpPr>
          <p:cNvPr id="2178" name="Google Shape;2178;p2"/>
          <p:cNvSpPr txBox="1"/>
          <p:nvPr>
            <p:ph type="title"/>
          </p:nvPr>
        </p:nvSpPr>
        <p:spPr>
          <a:xfrm>
            <a:off x="-1191" y="698500"/>
            <a:ext cx="105156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Arial"/>
              <a:buNone/>
            </a:pPr>
            <a:r>
              <a:rPr b="1" lang="en-IN" sz="5400" cap="none">
                <a:solidFill>
                  <a:srgbClr val="F1C232"/>
                </a:solidFill>
                <a:latin typeface="Arial"/>
                <a:ea typeface="Arial"/>
                <a:cs typeface="Arial"/>
                <a:sym typeface="Arial"/>
              </a:rPr>
              <a:t>OUTLINE:</a:t>
            </a:r>
            <a:endParaRPr sz="5400">
              <a:solidFill>
                <a:srgbClr val="F1C232"/>
              </a:solidFill>
            </a:endParaRPr>
          </a:p>
        </p:txBody>
      </p:sp>
      <p:sp>
        <p:nvSpPr>
          <p:cNvPr id="2179" name="Google Shape;2179;p2"/>
          <p:cNvSpPr txBox="1"/>
          <p:nvPr>
            <p:ph idx="1" type="body"/>
          </p:nvPr>
        </p:nvSpPr>
        <p:spPr>
          <a:xfrm>
            <a:off x="433387" y="1822228"/>
            <a:ext cx="10515600" cy="4251900"/>
          </a:xfrm>
          <a:prstGeom prst="rect">
            <a:avLst/>
          </a:prstGeom>
          <a:noFill/>
          <a:ln>
            <a:noFill/>
          </a:ln>
        </p:spPr>
        <p:txBody>
          <a:bodyPr anchorCtr="0" anchor="t" bIns="45700" lIns="91425" spcFirstLastPara="1" rIns="91425" wrap="square" tIns="45700">
            <a:normAutofit/>
          </a:bodyPr>
          <a:lstStyle/>
          <a:p>
            <a:pPr indent="-305435" lvl="0" marL="305435" rtl="0" algn="l">
              <a:lnSpc>
                <a:spcPct val="90000"/>
              </a:lnSpc>
              <a:spcBef>
                <a:spcPts val="0"/>
              </a:spcBef>
              <a:spcAft>
                <a:spcPts val="0"/>
              </a:spcAft>
              <a:buClr>
                <a:schemeClr val="dk1"/>
              </a:buClr>
              <a:buSzPts val="2200"/>
              <a:buChar char="•"/>
            </a:pPr>
            <a:r>
              <a:rPr b="1" lang="en-IN" sz="2200">
                <a:latin typeface="Arial"/>
                <a:ea typeface="Arial"/>
                <a:cs typeface="Arial"/>
                <a:sym typeface="Arial"/>
              </a:rPr>
              <a:t>Problem Statement </a:t>
            </a:r>
            <a:endParaRPr/>
          </a:p>
          <a:p>
            <a:pPr indent="-305435" lvl="0" marL="305435" rtl="0" algn="l">
              <a:lnSpc>
                <a:spcPct val="90000"/>
              </a:lnSpc>
              <a:spcBef>
                <a:spcPts val="1040"/>
              </a:spcBef>
              <a:spcAft>
                <a:spcPts val="0"/>
              </a:spcAft>
              <a:buClr>
                <a:schemeClr val="dk1"/>
              </a:buClr>
              <a:buSzPts val="2200"/>
              <a:buChar char="•"/>
            </a:pPr>
            <a:r>
              <a:rPr b="1" lang="en-IN" sz="2200">
                <a:latin typeface="Arial"/>
                <a:ea typeface="Arial"/>
                <a:cs typeface="Arial"/>
                <a:sym typeface="Arial"/>
              </a:rPr>
              <a:t>Proposed System/Solution</a:t>
            </a:r>
            <a:endParaRPr sz="2200">
              <a:latin typeface="Arial"/>
              <a:ea typeface="Arial"/>
              <a:cs typeface="Arial"/>
              <a:sym typeface="Arial"/>
            </a:endParaRPr>
          </a:p>
          <a:p>
            <a:pPr indent="-305435" lvl="0" marL="305435" rtl="0" algn="l">
              <a:lnSpc>
                <a:spcPct val="90000"/>
              </a:lnSpc>
              <a:spcBef>
                <a:spcPts val="1040"/>
              </a:spcBef>
              <a:spcAft>
                <a:spcPts val="0"/>
              </a:spcAft>
              <a:buClr>
                <a:schemeClr val="dk1"/>
              </a:buClr>
              <a:buSzPts val="2200"/>
              <a:buChar char="•"/>
            </a:pPr>
            <a:r>
              <a:rPr b="1" lang="en-IN" sz="2200">
                <a:latin typeface="Arial"/>
                <a:ea typeface="Arial"/>
                <a:cs typeface="Arial"/>
                <a:sym typeface="Arial"/>
              </a:rPr>
              <a:t>System Development Approach </a:t>
            </a:r>
            <a:r>
              <a:rPr lang="en-IN" sz="2200">
                <a:latin typeface="Arial"/>
                <a:ea typeface="Arial"/>
                <a:cs typeface="Arial"/>
                <a:sym typeface="Arial"/>
              </a:rPr>
              <a:t>(Technology Used) </a:t>
            </a:r>
            <a:endParaRPr/>
          </a:p>
          <a:p>
            <a:pPr indent="-305435" lvl="0" marL="305435" rtl="0" algn="l">
              <a:lnSpc>
                <a:spcPct val="90000"/>
              </a:lnSpc>
              <a:spcBef>
                <a:spcPts val="1040"/>
              </a:spcBef>
              <a:spcAft>
                <a:spcPts val="0"/>
              </a:spcAft>
              <a:buClr>
                <a:schemeClr val="dk1"/>
              </a:buClr>
              <a:buSzPts val="2200"/>
              <a:buChar char="•"/>
            </a:pPr>
            <a:r>
              <a:rPr b="1" lang="en-IN" sz="2200">
                <a:latin typeface="Arial"/>
                <a:ea typeface="Arial"/>
                <a:cs typeface="Arial"/>
                <a:sym typeface="Arial"/>
              </a:rPr>
              <a:t>Algorithm &amp; Deployment  </a:t>
            </a:r>
            <a:endParaRPr sz="2200">
              <a:latin typeface="Arial"/>
              <a:ea typeface="Arial"/>
              <a:cs typeface="Arial"/>
              <a:sym typeface="Arial"/>
            </a:endParaRPr>
          </a:p>
          <a:p>
            <a:pPr indent="-305435" lvl="0" marL="305435" rtl="0" algn="l">
              <a:lnSpc>
                <a:spcPct val="90000"/>
              </a:lnSpc>
              <a:spcBef>
                <a:spcPts val="1040"/>
              </a:spcBef>
              <a:spcAft>
                <a:spcPts val="0"/>
              </a:spcAft>
              <a:buClr>
                <a:schemeClr val="dk1"/>
              </a:buClr>
              <a:buSzPts val="2200"/>
              <a:buChar char="•"/>
            </a:pPr>
            <a:r>
              <a:rPr b="1" lang="en-IN" sz="2200">
                <a:latin typeface="Arial"/>
                <a:ea typeface="Arial"/>
                <a:cs typeface="Arial"/>
                <a:sym typeface="Arial"/>
              </a:rPr>
              <a:t>Result (Output Image)</a:t>
            </a:r>
            <a:endParaRPr sz="2200">
              <a:latin typeface="Arial"/>
              <a:ea typeface="Arial"/>
              <a:cs typeface="Arial"/>
              <a:sym typeface="Arial"/>
            </a:endParaRPr>
          </a:p>
          <a:p>
            <a:pPr indent="-305435" lvl="0" marL="305435" rtl="0" algn="l">
              <a:lnSpc>
                <a:spcPct val="90000"/>
              </a:lnSpc>
              <a:spcBef>
                <a:spcPts val="1040"/>
              </a:spcBef>
              <a:spcAft>
                <a:spcPts val="0"/>
              </a:spcAft>
              <a:buClr>
                <a:schemeClr val="dk1"/>
              </a:buClr>
              <a:buSzPts val="2200"/>
              <a:buChar char="•"/>
            </a:pPr>
            <a:r>
              <a:rPr b="1" lang="en-IN" sz="2200">
                <a:latin typeface="Arial"/>
                <a:ea typeface="Arial"/>
                <a:cs typeface="Arial"/>
                <a:sym typeface="Arial"/>
              </a:rPr>
              <a:t>Conclusion</a:t>
            </a:r>
            <a:endParaRPr sz="2200">
              <a:latin typeface="Arial"/>
              <a:ea typeface="Arial"/>
              <a:cs typeface="Arial"/>
              <a:sym typeface="Arial"/>
            </a:endParaRPr>
          </a:p>
          <a:p>
            <a:pPr indent="-305435" lvl="0" marL="305435" rtl="0" algn="l">
              <a:lnSpc>
                <a:spcPct val="90000"/>
              </a:lnSpc>
              <a:spcBef>
                <a:spcPts val="1040"/>
              </a:spcBef>
              <a:spcAft>
                <a:spcPts val="0"/>
              </a:spcAft>
              <a:buClr>
                <a:schemeClr val="dk1"/>
              </a:buClr>
              <a:buSzPts val="2200"/>
              <a:buChar char="•"/>
            </a:pPr>
            <a:r>
              <a:rPr b="1" lang="en-IN" sz="2200">
                <a:latin typeface="Arial"/>
                <a:ea typeface="Arial"/>
                <a:cs typeface="Arial"/>
                <a:sym typeface="Arial"/>
              </a:rPr>
              <a:t>Future Scope</a:t>
            </a:r>
            <a:endParaRPr sz="2200">
              <a:latin typeface="Arial"/>
              <a:ea typeface="Arial"/>
              <a:cs typeface="Arial"/>
              <a:sym typeface="Arial"/>
            </a:endParaRPr>
          </a:p>
          <a:p>
            <a:pPr indent="-305435" lvl="0" marL="305435" rtl="0" algn="l">
              <a:lnSpc>
                <a:spcPct val="90000"/>
              </a:lnSpc>
              <a:spcBef>
                <a:spcPts val="1040"/>
              </a:spcBef>
              <a:spcAft>
                <a:spcPts val="0"/>
              </a:spcAft>
              <a:buClr>
                <a:schemeClr val="dk1"/>
              </a:buClr>
              <a:buSzPts val="2200"/>
              <a:buChar char="•"/>
            </a:pPr>
            <a:r>
              <a:rPr b="1" lang="en-IN" sz="2200">
                <a:latin typeface="Arial"/>
                <a:ea typeface="Arial"/>
                <a:cs typeface="Arial"/>
                <a:sym typeface="Arial"/>
              </a:rPr>
              <a:t>References</a:t>
            </a:r>
            <a:endParaRPr sz="2200">
              <a:latin typeface="Arial"/>
              <a:ea typeface="Arial"/>
              <a:cs typeface="Arial"/>
              <a:sym typeface="Arial"/>
            </a:endParaRPr>
          </a:p>
          <a:p>
            <a:pPr indent="-88900" lvl="0" marL="228600" rtl="0" algn="l">
              <a:lnSpc>
                <a:spcPct val="90000"/>
              </a:lnSpc>
              <a:spcBef>
                <a:spcPts val="1600"/>
              </a:spcBef>
              <a:spcAft>
                <a:spcPts val="0"/>
              </a:spcAft>
              <a:buClr>
                <a:schemeClr val="dk1"/>
              </a:buClr>
              <a:buSzPts val="2200"/>
              <a:buNone/>
            </a:pPr>
            <a:r>
              <a:t/>
            </a:r>
            <a:endParaRPr sz="220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38" name="Shape 2238"/>
        <p:cNvGrpSpPr/>
        <p:nvPr/>
      </p:nvGrpSpPr>
      <p:grpSpPr>
        <a:xfrm>
          <a:off x="0" y="0"/>
          <a:ext cx="0" cy="0"/>
          <a:chOff x="0" y="0"/>
          <a:chExt cx="0" cy="0"/>
        </a:xfrm>
      </p:grpSpPr>
      <p:sp>
        <p:nvSpPr>
          <p:cNvPr id="2239" name="Google Shape;2239;p1"/>
          <p:cNvSpPr txBox="1"/>
          <p:nvPr>
            <p:ph type="title"/>
          </p:nvPr>
        </p:nvSpPr>
        <p:spPr>
          <a:xfrm>
            <a:off x="-1191" y="686594"/>
            <a:ext cx="105156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Arial"/>
              <a:buNone/>
            </a:pPr>
            <a:r>
              <a:rPr b="1" lang="en-IN" sz="4000" cap="none">
                <a:solidFill>
                  <a:srgbClr val="F1C232"/>
                </a:solidFill>
                <a:latin typeface="Arial"/>
                <a:ea typeface="Arial"/>
                <a:cs typeface="Arial"/>
                <a:sym typeface="Arial"/>
              </a:rPr>
              <a:t>PROBLEM STATEMENT:</a:t>
            </a:r>
            <a:endParaRPr sz="4000">
              <a:solidFill>
                <a:srgbClr val="F1C232"/>
              </a:solidFill>
            </a:endParaRPr>
          </a:p>
        </p:txBody>
      </p:sp>
      <p:sp>
        <p:nvSpPr>
          <p:cNvPr id="2240" name="Google Shape;2240;p1"/>
          <p:cNvSpPr txBox="1"/>
          <p:nvPr>
            <p:ph idx="1" type="body"/>
          </p:nvPr>
        </p:nvSpPr>
        <p:spPr>
          <a:xfrm>
            <a:off x="838200" y="1447800"/>
            <a:ext cx="10515600" cy="4206600"/>
          </a:xfrm>
          <a:prstGeom prst="rect">
            <a:avLst/>
          </a:prstGeom>
          <a:noFill/>
          <a:ln>
            <a:noFill/>
          </a:ln>
        </p:spPr>
        <p:txBody>
          <a:bodyPr anchorCtr="0" anchor="t" bIns="45700" lIns="91425" spcFirstLastPara="1" rIns="91425" wrap="square" tIns="45700">
            <a:normAutofit/>
          </a:bodyPr>
          <a:lstStyle/>
          <a:p>
            <a:pPr indent="-342900" lvl="0" marL="457200" rtl="0" algn="just">
              <a:lnSpc>
                <a:spcPct val="90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In academic institutions and office environments, drafting official emails, notices, and circulars is a frequent and essential task. However, many students, faculty members, and administrative staff face difficulties in maintaining a consistent professional tone, proper formatting, and correct grammatical structure while preparing such communications.</a:t>
            </a:r>
            <a:endParaRPr sz="1800">
              <a:latin typeface="Times New Roman"/>
              <a:ea typeface="Times New Roman"/>
              <a:cs typeface="Times New Roman"/>
              <a:sym typeface="Times New Roman"/>
            </a:endParaRPr>
          </a:p>
          <a:p>
            <a:pPr indent="0" lvl="0" marL="0" rtl="0" algn="just">
              <a:lnSpc>
                <a:spcPct val="90000"/>
              </a:lnSpc>
              <a:spcBef>
                <a:spcPts val="0"/>
              </a:spcBef>
              <a:spcAft>
                <a:spcPts val="0"/>
              </a:spcAft>
              <a:buClr>
                <a:schemeClr val="dk1"/>
              </a:buClr>
              <a:buSzPts val="2200"/>
              <a:buNone/>
            </a:pPr>
            <a:r>
              <a:t/>
            </a:r>
            <a:endParaRPr sz="1800">
              <a:latin typeface="Times New Roman"/>
              <a:ea typeface="Times New Roman"/>
              <a:cs typeface="Times New Roman"/>
              <a:sym typeface="Times New Roman"/>
            </a:endParaRPr>
          </a:p>
          <a:p>
            <a:pPr indent="-342900" lvl="0" marL="457200" rtl="0" algn="just">
              <a:lnSpc>
                <a:spcPct val="90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Manual drafting of formal communications is time-consuming and often leads to inconsistencies, unclear messaging, or deviations from institutional communication standards. Additionally, users may struggle to rewrite informal messages into appropriate academic or office-style content, especially when required details such as subject, date, or intended audience are missing.</a:t>
            </a:r>
            <a:endParaRPr sz="1800">
              <a:latin typeface="Times New Roman"/>
              <a:ea typeface="Times New Roman"/>
              <a:cs typeface="Times New Roman"/>
              <a:sym typeface="Times New Roman"/>
            </a:endParaRPr>
          </a:p>
          <a:p>
            <a:pPr indent="0" lvl="0" marL="0" rtl="0" algn="just">
              <a:lnSpc>
                <a:spcPct val="90000"/>
              </a:lnSpc>
              <a:spcBef>
                <a:spcPts val="0"/>
              </a:spcBef>
              <a:spcAft>
                <a:spcPts val="0"/>
              </a:spcAft>
              <a:buClr>
                <a:schemeClr val="dk1"/>
              </a:buClr>
              <a:buSzPts val="2200"/>
              <a:buNone/>
            </a:pPr>
            <a:r>
              <a:t/>
            </a:r>
            <a:endParaRPr sz="1800">
              <a:latin typeface="Times New Roman"/>
              <a:ea typeface="Times New Roman"/>
              <a:cs typeface="Times New Roman"/>
              <a:sym typeface="Times New Roman"/>
            </a:endParaRPr>
          </a:p>
          <a:p>
            <a:pPr indent="-342900" lvl="0" marL="457200" rtl="0" algn="just">
              <a:lnSpc>
                <a:spcPct val="90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As a result, there is a need for a reliable system that can assist users in creating clear, structured, and professional academic and office communications efficiently, while ensuring adherence to standard institutional guidelines.</a:t>
            </a:r>
            <a:endParaRPr sz="18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41" name="Shape 2241"/>
        <p:cNvGrpSpPr/>
        <p:nvPr/>
      </p:nvGrpSpPr>
      <p:grpSpPr>
        <a:xfrm>
          <a:off x="0" y="0"/>
          <a:ext cx="0" cy="0"/>
          <a:chOff x="0" y="0"/>
          <a:chExt cx="0" cy="0"/>
        </a:xfrm>
      </p:grpSpPr>
      <p:sp>
        <p:nvSpPr>
          <p:cNvPr id="2242" name="Google Shape;2242;p2"/>
          <p:cNvSpPr txBox="1"/>
          <p:nvPr>
            <p:ph type="title"/>
          </p:nvPr>
        </p:nvSpPr>
        <p:spPr>
          <a:xfrm>
            <a:off x="-1191" y="603250"/>
            <a:ext cx="105156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Arial"/>
              <a:buNone/>
            </a:pPr>
            <a:r>
              <a:rPr b="1" lang="en-IN" sz="4000" cap="none">
                <a:solidFill>
                  <a:srgbClr val="F1C232"/>
                </a:solidFill>
                <a:latin typeface="Arial"/>
                <a:ea typeface="Arial"/>
                <a:cs typeface="Arial"/>
                <a:sym typeface="Arial"/>
              </a:rPr>
              <a:t>PROPOSED SOLUTION:</a:t>
            </a:r>
            <a:endParaRPr sz="4000">
              <a:solidFill>
                <a:srgbClr val="F1C232"/>
              </a:solidFill>
            </a:endParaRPr>
          </a:p>
        </p:txBody>
      </p:sp>
      <p:sp>
        <p:nvSpPr>
          <p:cNvPr id="2243" name="Google Shape;2243;p2"/>
          <p:cNvSpPr txBox="1"/>
          <p:nvPr>
            <p:ph idx="1" type="body"/>
          </p:nvPr>
        </p:nvSpPr>
        <p:spPr>
          <a:xfrm>
            <a:off x="838200" y="1447799"/>
            <a:ext cx="10515600" cy="5042100"/>
          </a:xfrm>
          <a:prstGeom prst="rect">
            <a:avLst/>
          </a:prstGeom>
          <a:noFill/>
          <a:ln>
            <a:noFill/>
          </a:ln>
        </p:spPr>
        <p:txBody>
          <a:bodyPr anchorCtr="0" anchor="t" bIns="45700" lIns="91425" spcFirstLastPara="1" rIns="91425" wrap="square" tIns="45700">
            <a:noAutofit/>
          </a:bodyPr>
          <a:lstStyle/>
          <a:p>
            <a:pPr indent="-342900" lvl="0" marL="457200" rtl="0" algn="just">
              <a:lnSpc>
                <a:spcPct val="90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The proposed system is an AI-based Email &amp; Notice Drafting Agent developed using Microsoft Copilot Studio to support academic and office communication needs. It assists users in drafting professional emails, notices, and circulars with appropriate tone and structure.</a:t>
            </a:r>
            <a:endParaRPr sz="1800">
              <a:latin typeface="Times New Roman"/>
              <a:ea typeface="Times New Roman"/>
              <a:cs typeface="Times New Roman"/>
              <a:sym typeface="Times New Roman"/>
            </a:endParaRPr>
          </a:p>
          <a:p>
            <a:pPr indent="0" lvl="0" marL="0" rtl="0" algn="just">
              <a:lnSpc>
                <a:spcPct val="90000"/>
              </a:lnSpc>
              <a:spcBef>
                <a:spcPts val="0"/>
              </a:spcBef>
              <a:spcAft>
                <a:spcPts val="0"/>
              </a:spcAft>
              <a:buClr>
                <a:schemeClr val="dk1"/>
              </a:buClr>
              <a:buSzPts val="1800"/>
              <a:buNone/>
            </a:pPr>
            <a:r>
              <a:t/>
            </a:r>
            <a:endParaRPr sz="1800">
              <a:latin typeface="Times New Roman"/>
              <a:ea typeface="Times New Roman"/>
              <a:cs typeface="Times New Roman"/>
              <a:sym typeface="Times New Roman"/>
            </a:endParaRPr>
          </a:p>
          <a:p>
            <a:pPr indent="-342900" lvl="0" marL="457200" rtl="0" algn="just">
              <a:lnSpc>
                <a:spcPct val="90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The agent enables conversion of short instructions or bullet points into complete, well-formatted official communications and allows rewriting of existing content into formal, polite, or student-friendly language as required.</a:t>
            </a:r>
            <a:endParaRPr sz="1800">
              <a:latin typeface="Times New Roman"/>
              <a:ea typeface="Times New Roman"/>
              <a:cs typeface="Times New Roman"/>
              <a:sym typeface="Times New Roman"/>
            </a:endParaRPr>
          </a:p>
          <a:p>
            <a:pPr indent="0" lvl="0" marL="0" rtl="0" algn="just">
              <a:lnSpc>
                <a:spcPct val="90000"/>
              </a:lnSpc>
              <a:spcBef>
                <a:spcPts val="0"/>
              </a:spcBef>
              <a:spcAft>
                <a:spcPts val="0"/>
              </a:spcAft>
              <a:buClr>
                <a:schemeClr val="dk1"/>
              </a:buClr>
              <a:buSzPts val="1800"/>
              <a:buNone/>
            </a:pPr>
            <a:r>
              <a:t/>
            </a:r>
            <a:endParaRPr sz="1800">
              <a:latin typeface="Times New Roman"/>
              <a:ea typeface="Times New Roman"/>
              <a:cs typeface="Times New Roman"/>
              <a:sym typeface="Times New Roman"/>
            </a:endParaRPr>
          </a:p>
          <a:p>
            <a:pPr indent="-342900" lvl="0" marL="457200" rtl="0" algn="just">
              <a:lnSpc>
                <a:spcPct val="90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The system follows predefined institutional communication guidelines, ensuring grammatical accuracy, clarity, and consistency. It also intelligently identifies missing information such as subject, date, or intended audience and prompts the user to provide the required details.</a:t>
            </a:r>
            <a:endParaRPr sz="1800">
              <a:latin typeface="Times New Roman"/>
              <a:ea typeface="Times New Roman"/>
              <a:cs typeface="Times New Roman"/>
              <a:sym typeface="Times New Roman"/>
            </a:endParaRPr>
          </a:p>
          <a:p>
            <a:pPr indent="0" lvl="0" marL="0" rtl="0" algn="just">
              <a:lnSpc>
                <a:spcPct val="90000"/>
              </a:lnSpc>
              <a:spcBef>
                <a:spcPts val="0"/>
              </a:spcBef>
              <a:spcAft>
                <a:spcPts val="0"/>
              </a:spcAft>
              <a:buClr>
                <a:schemeClr val="dk1"/>
              </a:buClr>
              <a:buSzPts val="1800"/>
              <a:buNone/>
            </a:pPr>
            <a:r>
              <a:t/>
            </a:r>
            <a:endParaRPr sz="1800">
              <a:latin typeface="Times New Roman"/>
              <a:ea typeface="Times New Roman"/>
              <a:cs typeface="Times New Roman"/>
              <a:sym typeface="Times New Roman"/>
            </a:endParaRPr>
          </a:p>
          <a:p>
            <a:pPr indent="-342900" lvl="0" marL="457200" rtl="0" algn="just">
              <a:lnSpc>
                <a:spcPct val="90000"/>
              </a:lnSpc>
              <a:spcBef>
                <a:spcPts val="0"/>
              </a:spcBef>
              <a:spcAft>
                <a:spcPts val="0"/>
              </a:spcAft>
              <a:buSzPts val="1800"/>
              <a:buFont typeface="Times New Roman"/>
              <a:buChar char="•"/>
            </a:pPr>
            <a:r>
              <a:rPr lang="en-IN" sz="1800">
                <a:latin typeface="Times New Roman"/>
                <a:ea typeface="Times New Roman"/>
                <a:cs typeface="Times New Roman"/>
                <a:sym typeface="Times New Roman"/>
              </a:rPr>
              <a:t>The solution integrates seamlessly with Microsoft 365 applications such as Outlook and Word, improving productivity, reducing manual drafting effort, and ensuring reliable, standardized official communication.</a:t>
            </a:r>
            <a:endParaRPr sz="18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86" name="Shape 2186"/>
        <p:cNvGrpSpPr/>
        <p:nvPr/>
      </p:nvGrpSpPr>
      <p:grpSpPr>
        <a:xfrm>
          <a:off x="0" y="0"/>
          <a:ext cx="0" cy="0"/>
          <a:chOff x="0" y="0"/>
          <a:chExt cx="0" cy="0"/>
        </a:xfrm>
      </p:grpSpPr>
      <p:sp>
        <p:nvSpPr>
          <p:cNvPr id="2187" name="Google Shape;2187;p5"/>
          <p:cNvSpPr txBox="1"/>
          <p:nvPr>
            <p:ph type="title"/>
          </p:nvPr>
        </p:nvSpPr>
        <p:spPr>
          <a:xfrm>
            <a:off x="-548" y="699528"/>
            <a:ext cx="105156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Arial"/>
              <a:buNone/>
            </a:pPr>
            <a:r>
              <a:rPr b="1" lang="en-IN" sz="4000" cap="none">
                <a:solidFill>
                  <a:srgbClr val="F1C232"/>
                </a:solidFill>
                <a:latin typeface="Arial"/>
                <a:ea typeface="Arial"/>
                <a:cs typeface="Arial"/>
                <a:sym typeface="Arial"/>
              </a:rPr>
              <a:t>SYSTEM  APPROACH:</a:t>
            </a:r>
            <a:endParaRPr sz="4000">
              <a:solidFill>
                <a:srgbClr val="F1C232"/>
              </a:solidFill>
            </a:endParaRPr>
          </a:p>
        </p:txBody>
      </p:sp>
      <p:sp>
        <p:nvSpPr>
          <p:cNvPr id="2188" name="Google Shape;2188;p5"/>
          <p:cNvSpPr txBox="1"/>
          <p:nvPr>
            <p:ph idx="1" type="body"/>
          </p:nvPr>
        </p:nvSpPr>
        <p:spPr>
          <a:xfrm>
            <a:off x="317409" y="1715586"/>
            <a:ext cx="10515600" cy="42519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200"/>
              <a:buNone/>
            </a:pPr>
            <a:r>
              <a:rPr b="1" lang="en-IN" sz="1800" u="sng">
                <a:latin typeface="Times New Roman"/>
                <a:ea typeface="Times New Roman"/>
                <a:cs typeface="Times New Roman"/>
                <a:sym typeface="Times New Roman"/>
              </a:rPr>
              <a:t>System Requirements:</a:t>
            </a:r>
            <a:endParaRPr b="1" sz="1800" u="sng">
              <a:latin typeface="Times New Roman"/>
              <a:ea typeface="Times New Roman"/>
              <a:cs typeface="Times New Roman"/>
              <a:sym typeface="Times New Roman"/>
            </a:endParaRPr>
          </a:p>
          <a:p>
            <a:pPr indent="0" lvl="0" marL="0" rtl="0" algn="just">
              <a:lnSpc>
                <a:spcPct val="90000"/>
              </a:lnSpc>
              <a:spcBef>
                <a:spcPts val="0"/>
              </a:spcBef>
              <a:spcAft>
                <a:spcPts val="0"/>
              </a:spcAft>
              <a:buClr>
                <a:schemeClr val="dk1"/>
              </a:buClr>
              <a:buSzPts val="2200"/>
              <a:buNone/>
            </a:pPr>
            <a:r>
              <a:t/>
            </a:r>
            <a:endParaRPr b="1" sz="1800">
              <a:latin typeface="Times New Roman"/>
              <a:ea typeface="Times New Roman"/>
              <a:cs typeface="Times New Roman"/>
              <a:sym typeface="Times New Roman"/>
            </a:endParaRPr>
          </a:p>
          <a:p>
            <a:pPr indent="0" lvl="0" marL="0" rtl="0" algn="just">
              <a:lnSpc>
                <a:spcPct val="90000"/>
              </a:lnSpc>
              <a:spcBef>
                <a:spcPts val="0"/>
              </a:spcBef>
              <a:spcAft>
                <a:spcPts val="0"/>
              </a:spcAft>
              <a:buClr>
                <a:schemeClr val="dk1"/>
              </a:buClr>
              <a:buSzPts val="2200"/>
              <a:buNone/>
            </a:pPr>
            <a:r>
              <a:rPr b="1" lang="en-IN" sz="1800">
                <a:latin typeface="Times New Roman"/>
                <a:ea typeface="Times New Roman"/>
                <a:cs typeface="Times New Roman"/>
                <a:sym typeface="Times New Roman"/>
              </a:rPr>
              <a:t>Software Requirements:</a:t>
            </a:r>
            <a:endParaRPr b="1" sz="1800">
              <a:latin typeface="Times New Roman"/>
              <a:ea typeface="Times New Roman"/>
              <a:cs typeface="Times New Roman"/>
              <a:sym typeface="Times New Roman"/>
            </a:endParaRPr>
          </a:p>
          <a:p>
            <a:pPr indent="-342900" lvl="0" marL="457200" rtl="0" algn="just">
              <a:lnSpc>
                <a:spcPct val="90000"/>
              </a:lnSpc>
              <a:spcBef>
                <a:spcPts val="0"/>
              </a:spcBef>
              <a:spcAft>
                <a:spcPts val="0"/>
              </a:spcAft>
              <a:buClr>
                <a:schemeClr val="dk1"/>
              </a:buClr>
              <a:buSzPts val="1800"/>
              <a:buFont typeface="Times New Roman"/>
              <a:buChar char="•"/>
            </a:pPr>
            <a:r>
              <a:rPr lang="en-IN" sz="1800">
                <a:latin typeface="Times New Roman"/>
                <a:ea typeface="Times New Roman"/>
                <a:cs typeface="Times New Roman"/>
                <a:sym typeface="Times New Roman"/>
              </a:rPr>
              <a:t>Microsoft Copilot Studio</a:t>
            </a:r>
            <a:endParaRPr sz="1800">
              <a:latin typeface="Times New Roman"/>
              <a:ea typeface="Times New Roman"/>
              <a:cs typeface="Times New Roman"/>
              <a:sym typeface="Times New Roman"/>
            </a:endParaRPr>
          </a:p>
          <a:p>
            <a:pPr indent="-342900" lvl="0" marL="457200" rtl="0" algn="just">
              <a:lnSpc>
                <a:spcPct val="90000"/>
              </a:lnSpc>
              <a:spcBef>
                <a:spcPts val="0"/>
              </a:spcBef>
              <a:spcAft>
                <a:spcPts val="0"/>
              </a:spcAft>
              <a:buClr>
                <a:schemeClr val="dk1"/>
              </a:buClr>
              <a:buSzPts val="1800"/>
              <a:buFont typeface="Times New Roman"/>
              <a:buChar char="•"/>
            </a:pPr>
            <a:r>
              <a:rPr lang="en-IN" sz="1800">
                <a:latin typeface="Times New Roman"/>
                <a:ea typeface="Times New Roman"/>
                <a:cs typeface="Times New Roman"/>
                <a:sym typeface="Times New Roman"/>
              </a:rPr>
              <a:t>Microsoft 365 (Outlook and Word)</a:t>
            </a:r>
            <a:endParaRPr sz="1800">
              <a:latin typeface="Times New Roman"/>
              <a:ea typeface="Times New Roman"/>
              <a:cs typeface="Times New Roman"/>
              <a:sym typeface="Times New Roman"/>
            </a:endParaRPr>
          </a:p>
          <a:p>
            <a:pPr indent="-342900" lvl="0" marL="457200" rtl="0" algn="just">
              <a:lnSpc>
                <a:spcPct val="90000"/>
              </a:lnSpc>
              <a:spcBef>
                <a:spcPts val="0"/>
              </a:spcBef>
              <a:spcAft>
                <a:spcPts val="0"/>
              </a:spcAft>
              <a:buClr>
                <a:schemeClr val="dk1"/>
              </a:buClr>
              <a:buSzPts val="1800"/>
              <a:buFont typeface="Times New Roman"/>
              <a:buChar char="•"/>
            </a:pPr>
            <a:r>
              <a:rPr lang="en-IN" sz="1800">
                <a:latin typeface="Times New Roman"/>
                <a:ea typeface="Times New Roman"/>
                <a:cs typeface="Times New Roman"/>
                <a:sym typeface="Times New Roman"/>
              </a:rPr>
              <a:t>Web browser (Microsoft Edge or Google Chrome)</a:t>
            </a:r>
            <a:endParaRPr sz="1800">
              <a:latin typeface="Times New Roman"/>
              <a:ea typeface="Times New Roman"/>
              <a:cs typeface="Times New Roman"/>
              <a:sym typeface="Times New Roman"/>
            </a:endParaRPr>
          </a:p>
          <a:p>
            <a:pPr indent="-342900" lvl="0" marL="457200" rtl="0" algn="just">
              <a:lnSpc>
                <a:spcPct val="90000"/>
              </a:lnSpc>
              <a:spcBef>
                <a:spcPts val="0"/>
              </a:spcBef>
              <a:spcAft>
                <a:spcPts val="0"/>
              </a:spcAft>
              <a:buClr>
                <a:schemeClr val="dk1"/>
              </a:buClr>
              <a:buSzPts val="1800"/>
              <a:buFont typeface="Times New Roman"/>
              <a:buChar char="•"/>
            </a:pPr>
            <a:r>
              <a:rPr lang="en-IN" sz="1800">
                <a:latin typeface="Times New Roman"/>
                <a:ea typeface="Times New Roman"/>
                <a:cs typeface="Times New Roman"/>
                <a:sym typeface="Times New Roman"/>
              </a:rPr>
              <a:t>Stable internet connection</a:t>
            </a:r>
            <a:endParaRPr sz="1800">
              <a:latin typeface="Times New Roman"/>
              <a:ea typeface="Times New Roman"/>
              <a:cs typeface="Times New Roman"/>
              <a:sym typeface="Times New Roman"/>
            </a:endParaRPr>
          </a:p>
          <a:p>
            <a:pPr indent="0" lvl="0" marL="0" rtl="0" algn="just">
              <a:lnSpc>
                <a:spcPct val="90000"/>
              </a:lnSpc>
              <a:spcBef>
                <a:spcPts val="0"/>
              </a:spcBef>
              <a:spcAft>
                <a:spcPts val="0"/>
              </a:spcAft>
              <a:buClr>
                <a:schemeClr val="dk1"/>
              </a:buClr>
              <a:buSzPts val="2200"/>
              <a:buNone/>
            </a:pPr>
            <a:r>
              <a:t/>
            </a:r>
            <a:endParaRPr sz="1800">
              <a:latin typeface="Times New Roman"/>
              <a:ea typeface="Times New Roman"/>
              <a:cs typeface="Times New Roman"/>
              <a:sym typeface="Times New Roman"/>
            </a:endParaRPr>
          </a:p>
          <a:p>
            <a:pPr indent="0" lvl="0" marL="0" rtl="0" algn="just">
              <a:lnSpc>
                <a:spcPct val="90000"/>
              </a:lnSpc>
              <a:spcBef>
                <a:spcPts val="0"/>
              </a:spcBef>
              <a:spcAft>
                <a:spcPts val="0"/>
              </a:spcAft>
              <a:buClr>
                <a:schemeClr val="dk1"/>
              </a:buClr>
              <a:buSzPts val="2200"/>
              <a:buNone/>
            </a:pPr>
            <a:r>
              <a:rPr b="1" lang="en-IN" sz="1800">
                <a:latin typeface="Times New Roman"/>
                <a:ea typeface="Times New Roman"/>
                <a:cs typeface="Times New Roman"/>
                <a:sym typeface="Times New Roman"/>
              </a:rPr>
              <a:t>Hardware Requirements:</a:t>
            </a:r>
            <a:endParaRPr b="1" sz="1800">
              <a:latin typeface="Times New Roman"/>
              <a:ea typeface="Times New Roman"/>
              <a:cs typeface="Times New Roman"/>
              <a:sym typeface="Times New Roman"/>
            </a:endParaRPr>
          </a:p>
          <a:p>
            <a:pPr indent="-342900" lvl="0" marL="457200" rtl="0" algn="just">
              <a:lnSpc>
                <a:spcPct val="90000"/>
              </a:lnSpc>
              <a:spcBef>
                <a:spcPts val="0"/>
              </a:spcBef>
              <a:spcAft>
                <a:spcPts val="0"/>
              </a:spcAft>
              <a:buClr>
                <a:schemeClr val="dk1"/>
              </a:buClr>
              <a:buSzPts val="1800"/>
              <a:buFont typeface="Times New Roman"/>
              <a:buChar char="•"/>
            </a:pPr>
            <a:r>
              <a:rPr lang="en-IN" sz="1800">
                <a:latin typeface="Times New Roman"/>
                <a:ea typeface="Times New Roman"/>
                <a:cs typeface="Times New Roman"/>
                <a:sym typeface="Times New Roman"/>
              </a:rPr>
              <a:t>Processor: Intel Core i3 or higher</a:t>
            </a:r>
            <a:endParaRPr sz="1800">
              <a:latin typeface="Times New Roman"/>
              <a:ea typeface="Times New Roman"/>
              <a:cs typeface="Times New Roman"/>
              <a:sym typeface="Times New Roman"/>
            </a:endParaRPr>
          </a:p>
          <a:p>
            <a:pPr indent="-342900" lvl="0" marL="457200" rtl="0" algn="just">
              <a:lnSpc>
                <a:spcPct val="90000"/>
              </a:lnSpc>
              <a:spcBef>
                <a:spcPts val="0"/>
              </a:spcBef>
              <a:spcAft>
                <a:spcPts val="0"/>
              </a:spcAft>
              <a:buClr>
                <a:schemeClr val="dk1"/>
              </a:buClr>
              <a:buSzPts val="1800"/>
              <a:buFont typeface="Times New Roman"/>
              <a:buChar char="•"/>
            </a:pPr>
            <a:r>
              <a:rPr lang="en-IN" sz="1800">
                <a:latin typeface="Times New Roman"/>
                <a:ea typeface="Times New Roman"/>
                <a:cs typeface="Times New Roman"/>
                <a:sym typeface="Times New Roman"/>
              </a:rPr>
              <a:t>RAM: Minimum 8 GB</a:t>
            </a:r>
            <a:endParaRPr sz="1800">
              <a:latin typeface="Times New Roman"/>
              <a:ea typeface="Times New Roman"/>
              <a:cs typeface="Times New Roman"/>
              <a:sym typeface="Times New Roman"/>
            </a:endParaRPr>
          </a:p>
          <a:p>
            <a:pPr indent="-342900" lvl="0" marL="457200" rtl="0" algn="just">
              <a:lnSpc>
                <a:spcPct val="90000"/>
              </a:lnSpc>
              <a:spcBef>
                <a:spcPts val="0"/>
              </a:spcBef>
              <a:spcAft>
                <a:spcPts val="0"/>
              </a:spcAft>
              <a:buClr>
                <a:schemeClr val="dk1"/>
              </a:buClr>
              <a:buSzPts val="1800"/>
              <a:buFont typeface="Times New Roman"/>
              <a:buChar char="•"/>
            </a:pPr>
            <a:r>
              <a:rPr lang="en-IN" sz="1800">
                <a:latin typeface="Times New Roman"/>
                <a:ea typeface="Times New Roman"/>
                <a:cs typeface="Times New Roman"/>
                <a:sym typeface="Times New Roman"/>
              </a:rPr>
              <a:t>Storage: At least 5 GB free disk space</a:t>
            </a:r>
            <a:endParaRPr sz="1800">
              <a:latin typeface="Times New Roman"/>
              <a:ea typeface="Times New Roman"/>
              <a:cs typeface="Times New Roman"/>
              <a:sym typeface="Times New Roman"/>
            </a:endParaRPr>
          </a:p>
          <a:p>
            <a:pPr indent="-342900" lvl="0" marL="457200" rtl="0" algn="just">
              <a:lnSpc>
                <a:spcPct val="90000"/>
              </a:lnSpc>
              <a:spcBef>
                <a:spcPts val="0"/>
              </a:spcBef>
              <a:spcAft>
                <a:spcPts val="0"/>
              </a:spcAft>
              <a:buClr>
                <a:schemeClr val="dk1"/>
              </a:buClr>
              <a:buSzPts val="1800"/>
              <a:buFont typeface="Times New Roman"/>
              <a:buChar char="•"/>
            </a:pPr>
            <a:r>
              <a:rPr lang="en-IN" sz="1800">
                <a:latin typeface="Times New Roman"/>
                <a:ea typeface="Times New Roman"/>
                <a:cs typeface="Times New Roman"/>
                <a:sym typeface="Times New Roman"/>
              </a:rPr>
              <a:t>Device: Laptop or Desktop system </a:t>
            </a:r>
            <a:endParaRPr sz="180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28" name="Shape 2228"/>
        <p:cNvGrpSpPr/>
        <p:nvPr/>
      </p:nvGrpSpPr>
      <p:grpSpPr>
        <a:xfrm>
          <a:off x="0" y="0"/>
          <a:ext cx="0" cy="0"/>
          <a:chOff x="0" y="0"/>
          <a:chExt cx="0" cy="0"/>
        </a:xfrm>
      </p:grpSpPr>
      <p:sp>
        <p:nvSpPr>
          <p:cNvPr id="2229" name="Google Shape;2229;p18"/>
          <p:cNvSpPr txBox="1"/>
          <p:nvPr>
            <p:ph type="title"/>
          </p:nvPr>
        </p:nvSpPr>
        <p:spPr>
          <a:xfrm>
            <a:off x="-548" y="606334"/>
            <a:ext cx="105156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Arial"/>
              <a:buNone/>
            </a:pPr>
            <a:r>
              <a:rPr b="1" lang="en-IN" sz="4000" cap="none">
                <a:solidFill>
                  <a:srgbClr val="F1C232"/>
                </a:solidFill>
                <a:latin typeface="Arial"/>
                <a:ea typeface="Arial"/>
                <a:cs typeface="Arial"/>
                <a:sym typeface="Arial"/>
              </a:rPr>
              <a:t>CONCLUSION:</a:t>
            </a:r>
            <a:endParaRPr sz="4000">
              <a:solidFill>
                <a:srgbClr val="F1C232"/>
              </a:solidFill>
            </a:endParaRPr>
          </a:p>
        </p:txBody>
      </p:sp>
      <p:sp>
        <p:nvSpPr>
          <p:cNvPr id="2230" name="Google Shape;2230;p18"/>
          <p:cNvSpPr txBox="1"/>
          <p:nvPr>
            <p:ph idx="1" type="body"/>
          </p:nvPr>
        </p:nvSpPr>
        <p:spPr>
          <a:xfrm>
            <a:off x="838189" y="1303041"/>
            <a:ext cx="10515600" cy="4251900"/>
          </a:xfrm>
          <a:prstGeom prst="rect">
            <a:avLst/>
          </a:prstGeom>
          <a:noFill/>
          <a:ln>
            <a:noFill/>
          </a:ln>
        </p:spPr>
        <p:txBody>
          <a:bodyPr anchorCtr="0" anchor="t" bIns="45700" lIns="91425" spcFirstLastPara="1" rIns="91425" wrap="square" tIns="45700">
            <a:normAutofit/>
          </a:bodyPr>
          <a:lstStyle/>
          <a:p>
            <a:pPr indent="-342900" lvl="0" marL="457200" rtl="0" algn="just">
              <a:lnSpc>
                <a:spcPct val="90000"/>
              </a:lnSpc>
              <a:spcBef>
                <a:spcPts val="0"/>
              </a:spcBef>
              <a:spcAft>
                <a:spcPts val="0"/>
              </a:spcAft>
              <a:buClr>
                <a:schemeClr val="dk1"/>
              </a:buClr>
              <a:buSzPts val="1800"/>
              <a:buFont typeface="Times New Roman"/>
              <a:buChar char="•"/>
            </a:pPr>
            <a:r>
              <a:rPr lang="en-IN" sz="1800">
                <a:latin typeface="Times New Roman"/>
                <a:ea typeface="Times New Roman"/>
                <a:cs typeface="Times New Roman"/>
                <a:sym typeface="Times New Roman"/>
              </a:rPr>
              <a:t>The Email &amp; Notice Drafting Agent developed using Microsoft Copilot Studio successfully demonstrates the practical use of AI in academic and office communication. The system effectively assists users in drafting professional emails, notices, and circulars with appropriate tone, structure, and grammatical accuracy.</a:t>
            </a:r>
            <a:endParaRPr sz="1800">
              <a:latin typeface="Times New Roman"/>
              <a:ea typeface="Times New Roman"/>
              <a:cs typeface="Times New Roman"/>
              <a:sym typeface="Times New Roman"/>
            </a:endParaRPr>
          </a:p>
          <a:p>
            <a:pPr indent="0" lvl="0" marL="457200" rtl="0" algn="just">
              <a:lnSpc>
                <a:spcPct val="90000"/>
              </a:lnSpc>
              <a:spcBef>
                <a:spcPts val="0"/>
              </a:spcBef>
              <a:spcAft>
                <a:spcPts val="0"/>
              </a:spcAft>
              <a:buClr>
                <a:schemeClr val="dk1"/>
              </a:buClr>
              <a:buSzPts val="1800"/>
              <a:buNone/>
            </a:pPr>
            <a:r>
              <a:t/>
            </a:r>
            <a:endParaRPr sz="1800">
              <a:latin typeface="Times New Roman"/>
              <a:ea typeface="Times New Roman"/>
              <a:cs typeface="Times New Roman"/>
              <a:sym typeface="Times New Roman"/>
            </a:endParaRPr>
          </a:p>
          <a:p>
            <a:pPr indent="-342900" lvl="0" marL="457200" rtl="0" algn="just">
              <a:lnSpc>
                <a:spcPct val="90000"/>
              </a:lnSpc>
              <a:spcBef>
                <a:spcPts val="0"/>
              </a:spcBef>
              <a:spcAft>
                <a:spcPts val="0"/>
              </a:spcAft>
              <a:buClr>
                <a:schemeClr val="dk1"/>
              </a:buClr>
              <a:buSzPts val="1800"/>
              <a:buFont typeface="Times New Roman"/>
              <a:buChar char="•"/>
            </a:pPr>
            <a:r>
              <a:rPr lang="en-IN" sz="1800">
                <a:latin typeface="Times New Roman"/>
                <a:ea typeface="Times New Roman"/>
                <a:cs typeface="Times New Roman"/>
                <a:sym typeface="Times New Roman"/>
              </a:rPr>
              <a:t>By automating routine communication tasks, the solution reduces manual effort, improves productivity, and ensures consistency with institutional communication standards. The integration with Microsoft 365 applications such as Outlook and Word further enhances usability and real-world applicability.</a:t>
            </a:r>
            <a:endParaRPr sz="1800">
              <a:latin typeface="Times New Roman"/>
              <a:ea typeface="Times New Roman"/>
              <a:cs typeface="Times New Roman"/>
              <a:sym typeface="Times New Roman"/>
            </a:endParaRPr>
          </a:p>
          <a:p>
            <a:pPr indent="0" lvl="0" marL="457200" rtl="0" algn="just">
              <a:lnSpc>
                <a:spcPct val="90000"/>
              </a:lnSpc>
              <a:spcBef>
                <a:spcPts val="0"/>
              </a:spcBef>
              <a:spcAft>
                <a:spcPts val="0"/>
              </a:spcAft>
              <a:buClr>
                <a:schemeClr val="dk1"/>
              </a:buClr>
              <a:buSzPts val="1800"/>
              <a:buNone/>
            </a:pPr>
            <a:r>
              <a:t/>
            </a:r>
            <a:endParaRPr sz="1800">
              <a:latin typeface="Times New Roman"/>
              <a:ea typeface="Times New Roman"/>
              <a:cs typeface="Times New Roman"/>
              <a:sym typeface="Times New Roman"/>
            </a:endParaRPr>
          </a:p>
          <a:p>
            <a:pPr indent="-342900" lvl="0" marL="457200" rtl="0" algn="just">
              <a:lnSpc>
                <a:spcPct val="90000"/>
              </a:lnSpc>
              <a:spcBef>
                <a:spcPts val="0"/>
              </a:spcBef>
              <a:spcAft>
                <a:spcPts val="0"/>
              </a:spcAft>
              <a:buClr>
                <a:schemeClr val="dk1"/>
              </a:buClr>
              <a:buSzPts val="1800"/>
              <a:buFont typeface="Times New Roman"/>
              <a:buChar char="•"/>
            </a:pPr>
            <a:r>
              <a:rPr lang="en-IN" sz="1800">
                <a:latin typeface="Times New Roman"/>
                <a:ea typeface="Times New Roman"/>
                <a:cs typeface="Times New Roman"/>
                <a:sym typeface="Times New Roman"/>
              </a:rPr>
              <a:t>Overall, the project highlights how Copilot-based AI agents can be leveraged to streamline everyday administrative and academic workflows, making them more efficient, reliable, and user-friendly.</a:t>
            </a:r>
            <a:endParaRPr sz="180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31" name="Shape 2231"/>
        <p:cNvGrpSpPr/>
        <p:nvPr/>
      </p:nvGrpSpPr>
      <p:grpSpPr>
        <a:xfrm>
          <a:off x="0" y="0"/>
          <a:ext cx="0" cy="0"/>
          <a:chOff x="0" y="0"/>
          <a:chExt cx="0" cy="0"/>
        </a:xfrm>
      </p:grpSpPr>
      <p:sp>
        <p:nvSpPr>
          <p:cNvPr id="2232" name="Google Shape;2232;p19"/>
          <p:cNvSpPr txBox="1"/>
          <p:nvPr>
            <p:ph type="title"/>
          </p:nvPr>
        </p:nvSpPr>
        <p:spPr>
          <a:xfrm>
            <a:off x="-548" y="606334"/>
            <a:ext cx="105156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Arial"/>
              <a:buNone/>
            </a:pPr>
            <a:r>
              <a:rPr b="1" lang="en-IN" sz="4000" cap="none">
                <a:solidFill>
                  <a:srgbClr val="F1C232"/>
                </a:solidFill>
                <a:latin typeface="Arial"/>
                <a:ea typeface="Arial"/>
                <a:cs typeface="Arial"/>
                <a:sym typeface="Arial"/>
              </a:rPr>
              <a:t>FUTURE SCOPE:</a:t>
            </a:r>
            <a:endParaRPr sz="4000">
              <a:solidFill>
                <a:srgbClr val="F1C232"/>
              </a:solidFill>
            </a:endParaRPr>
          </a:p>
        </p:txBody>
      </p:sp>
      <p:sp>
        <p:nvSpPr>
          <p:cNvPr id="2233" name="Google Shape;2233;p19"/>
          <p:cNvSpPr txBox="1"/>
          <p:nvPr>
            <p:ph idx="1" type="body"/>
          </p:nvPr>
        </p:nvSpPr>
        <p:spPr>
          <a:xfrm>
            <a:off x="268071" y="1304434"/>
            <a:ext cx="10515600" cy="4251900"/>
          </a:xfrm>
          <a:prstGeom prst="rect">
            <a:avLst/>
          </a:prstGeom>
          <a:noFill/>
          <a:ln>
            <a:noFill/>
          </a:ln>
        </p:spPr>
        <p:txBody>
          <a:bodyPr anchorCtr="0" anchor="t" bIns="45700" lIns="91425" spcFirstLastPara="1" rIns="91425" wrap="square" tIns="45700">
            <a:normAutofit/>
          </a:bodyPr>
          <a:lstStyle/>
          <a:p>
            <a:pPr indent="-342900" lvl="0" marL="457200" rtl="0" algn="just">
              <a:lnSpc>
                <a:spcPct val="90000"/>
              </a:lnSpc>
              <a:spcBef>
                <a:spcPts val="1600"/>
              </a:spcBef>
              <a:spcAft>
                <a:spcPts val="0"/>
              </a:spcAft>
              <a:buClr>
                <a:schemeClr val="dk1"/>
              </a:buClr>
              <a:buSzPts val="1800"/>
              <a:buFont typeface="Times New Roman"/>
              <a:buChar char="•"/>
            </a:pPr>
            <a:r>
              <a:rPr lang="en-IN" sz="1800">
                <a:latin typeface="Times New Roman"/>
                <a:ea typeface="Times New Roman"/>
                <a:cs typeface="Times New Roman"/>
                <a:sym typeface="Times New Roman"/>
              </a:rPr>
              <a:t>The system can be enhanced by adding multilingual support, enabling users to generate academic and office communications in multiple regional and international languages.</a:t>
            </a:r>
            <a:endParaRPr sz="1800">
              <a:latin typeface="Times New Roman"/>
              <a:ea typeface="Times New Roman"/>
              <a:cs typeface="Times New Roman"/>
              <a:sym typeface="Times New Roman"/>
            </a:endParaRPr>
          </a:p>
          <a:p>
            <a:pPr indent="0" lvl="0" marL="457200" rtl="0" algn="just">
              <a:lnSpc>
                <a:spcPct val="90000"/>
              </a:lnSpc>
              <a:spcBef>
                <a:spcPts val="1600"/>
              </a:spcBef>
              <a:spcAft>
                <a:spcPts val="0"/>
              </a:spcAft>
              <a:buClr>
                <a:schemeClr val="dk1"/>
              </a:buClr>
              <a:buSzPts val="1800"/>
              <a:buNone/>
            </a:pPr>
            <a:r>
              <a:t/>
            </a:r>
            <a:endParaRPr sz="1800">
              <a:latin typeface="Times New Roman"/>
              <a:ea typeface="Times New Roman"/>
              <a:cs typeface="Times New Roman"/>
              <a:sym typeface="Times New Roman"/>
            </a:endParaRPr>
          </a:p>
          <a:p>
            <a:pPr indent="-342900" lvl="0" marL="457200" rtl="0" algn="just">
              <a:lnSpc>
                <a:spcPct val="90000"/>
              </a:lnSpc>
              <a:spcBef>
                <a:spcPts val="1600"/>
              </a:spcBef>
              <a:spcAft>
                <a:spcPts val="0"/>
              </a:spcAft>
              <a:buClr>
                <a:schemeClr val="dk1"/>
              </a:buClr>
              <a:buSzPts val="1800"/>
              <a:buFont typeface="Times New Roman"/>
              <a:buChar char="•"/>
            </a:pPr>
            <a:r>
              <a:rPr lang="en-IN" sz="1800">
                <a:latin typeface="Times New Roman"/>
                <a:ea typeface="Times New Roman"/>
                <a:cs typeface="Times New Roman"/>
                <a:sym typeface="Times New Roman"/>
              </a:rPr>
              <a:t>Predefined institution-specific templates can be incorporated to further standardize emails, notices, and circulars across different departments.</a:t>
            </a:r>
            <a:endParaRPr sz="1800">
              <a:latin typeface="Times New Roman"/>
              <a:ea typeface="Times New Roman"/>
              <a:cs typeface="Times New Roman"/>
              <a:sym typeface="Times New Roman"/>
            </a:endParaRPr>
          </a:p>
          <a:p>
            <a:pPr indent="0" lvl="0" marL="457200" rtl="0" algn="just">
              <a:lnSpc>
                <a:spcPct val="90000"/>
              </a:lnSpc>
              <a:spcBef>
                <a:spcPts val="1600"/>
              </a:spcBef>
              <a:spcAft>
                <a:spcPts val="0"/>
              </a:spcAft>
              <a:buClr>
                <a:schemeClr val="dk1"/>
              </a:buClr>
              <a:buSzPts val="1800"/>
              <a:buNone/>
            </a:pPr>
            <a:r>
              <a:t/>
            </a:r>
            <a:endParaRPr sz="1800">
              <a:latin typeface="Times New Roman"/>
              <a:ea typeface="Times New Roman"/>
              <a:cs typeface="Times New Roman"/>
              <a:sym typeface="Times New Roman"/>
            </a:endParaRPr>
          </a:p>
          <a:p>
            <a:pPr indent="-342900" lvl="0" marL="457200" rtl="0" algn="just">
              <a:lnSpc>
                <a:spcPct val="90000"/>
              </a:lnSpc>
              <a:spcBef>
                <a:spcPts val="1600"/>
              </a:spcBef>
              <a:spcAft>
                <a:spcPts val="0"/>
              </a:spcAft>
              <a:buClr>
                <a:schemeClr val="dk1"/>
              </a:buClr>
              <a:buSzPts val="1800"/>
              <a:buFont typeface="Times New Roman"/>
              <a:buChar char="•"/>
            </a:pPr>
            <a:r>
              <a:rPr lang="en-IN" sz="1800">
                <a:latin typeface="Times New Roman"/>
                <a:ea typeface="Times New Roman"/>
                <a:cs typeface="Times New Roman"/>
                <a:sym typeface="Times New Roman"/>
              </a:rPr>
              <a:t>Integration with organizational policies or knowledge bases can help ensure compliance with institutional rules and guidelines.</a:t>
            </a:r>
            <a:endParaRPr sz="1800">
              <a:latin typeface="Times New Roman"/>
              <a:ea typeface="Times New Roman"/>
              <a:cs typeface="Times New Roman"/>
              <a:sym typeface="Times New Roman"/>
            </a:endParaRPr>
          </a:p>
          <a:p>
            <a:pPr indent="0" lvl="0" marL="457200" rtl="0" algn="just">
              <a:lnSpc>
                <a:spcPct val="90000"/>
              </a:lnSpc>
              <a:spcBef>
                <a:spcPts val="1600"/>
              </a:spcBef>
              <a:spcAft>
                <a:spcPts val="0"/>
              </a:spcAft>
              <a:buClr>
                <a:schemeClr val="dk1"/>
              </a:buClr>
              <a:buSzPts val="1800"/>
              <a:buNone/>
            </a:pPr>
            <a:r>
              <a:t/>
            </a:r>
            <a:endParaRPr sz="1800">
              <a:latin typeface="Times New Roman"/>
              <a:ea typeface="Times New Roman"/>
              <a:cs typeface="Times New Roman"/>
              <a:sym typeface="Times New Roman"/>
            </a:endParaRPr>
          </a:p>
          <a:p>
            <a:pPr indent="-342900" lvl="0" marL="457200" rtl="0" algn="just">
              <a:lnSpc>
                <a:spcPct val="90000"/>
              </a:lnSpc>
              <a:spcBef>
                <a:spcPts val="1600"/>
              </a:spcBef>
              <a:spcAft>
                <a:spcPts val="0"/>
              </a:spcAft>
              <a:buClr>
                <a:schemeClr val="dk1"/>
              </a:buClr>
              <a:buSzPts val="1800"/>
              <a:buFont typeface="Times New Roman"/>
              <a:buChar char="•"/>
            </a:pPr>
            <a:r>
              <a:rPr lang="en-IN" sz="1800">
                <a:latin typeface="Times New Roman"/>
                <a:ea typeface="Times New Roman"/>
                <a:cs typeface="Times New Roman"/>
                <a:sym typeface="Times New Roman"/>
              </a:rPr>
              <a:t>Advanced features such as role-based communication, automated scheduling reminders, and voice-based input can be explored to improve usability and functionality.</a:t>
            </a:r>
            <a:endParaRPr sz="18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52" name="Shape 2252"/>
        <p:cNvGrpSpPr/>
        <p:nvPr/>
      </p:nvGrpSpPr>
      <p:grpSpPr>
        <a:xfrm>
          <a:off x="0" y="0"/>
          <a:ext cx="0" cy="0"/>
          <a:chOff x="0" y="0"/>
          <a:chExt cx="0" cy="0"/>
        </a:xfrm>
      </p:grpSpPr>
      <p:sp>
        <p:nvSpPr>
          <p:cNvPr id="2253" name="Google Shape;2253;p1"/>
          <p:cNvSpPr txBox="1"/>
          <p:nvPr>
            <p:ph type="title"/>
          </p:nvPr>
        </p:nvSpPr>
        <p:spPr>
          <a:xfrm>
            <a:off x="-548" y="606334"/>
            <a:ext cx="105156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Arial"/>
              <a:buNone/>
            </a:pPr>
            <a:r>
              <a:rPr b="1" lang="en-IN" sz="4000" cap="none">
                <a:solidFill>
                  <a:srgbClr val="F1C232"/>
                </a:solidFill>
                <a:latin typeface="Arial"/>
                <a:ea typeface="Arial"/>
                <a:cs typeface="Arial"/>
                <a:sym typeface="Arial"/>
              </a:rPr>
              <a:t>REFERENCES:</a:t>
            </a:r>
            <a:endParaRPr sz="4000">
              <a:solidFill>
                <a:srgbClr val="F1C232"/>
              </a:solidFill>
            </a:endParaRPr>
          </a:p>
        </p:txBody>
      </p:sp>
      <p:sp>
        <p:nvSpPr>
          <p:cNvPr id="2254" name="Google Shape;2254;p1"/>
          <p:cNvSpPr txBox="1"/>
          <p:nvPr>
            <p:ph idx="1" type="body"/>
          </p:nvPr>
        </p:nvSpPr>
        <p:spPr>
          <a:xfrm>
            <a:off x="196800" y="1447800"/>
            <a:ext cx="11714400" cy="54102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0"/>
              </a:spcBef>
              <a:spcAft>
                <a:spcPts val="0"/>
              </a:spcAft>
              <a:buClr>
                <a:schemeClr val="dk1"/>
              </a:buClr>
              <a:buSzPts val="1800"/>
              <a:buFont typeface="Times New Roman"/>
              <a:buChar char="•"/>
            </a:pPr>
            <a:r>
              <a:rPr lang="en-IN" sz="1800">
                <a:latin typeface="Times New Roman"/>
                <a:ea typeface="Times New Roman"/>
                <a:cs typeface="Times New Roman"/>
                <a:sym typeface="Times New Roman"/>
              </a:rPr>
              <a:t>Microsoft. Microsoft Copilot Studio Documentation.</a:t>
            </a:r>
            <a:endParaRPr sz="1800">
              <a:latin typeface="Times New Roman"/>
              <a:ea typeface="Times New Roman"/>
              <a:cs typeface="Times New Roman"/>
              <a:sym typeface="Times New Roman"/>
            </a:endParaRPr>
          </a:p>
          <a:p>
            <a:pPr indent="0" lvl="0" marL="457200" rtl="0" algn="l">
              <a:lnSpc>
                <a:spcPct val="90000"/>
              </a:lnSpc>
              <a:spcBef>
                <a:spcPts val="0"/>
              </a:spcBef>
              <a:spcAft>
                <a:spcPts val="0"/>
              </a:spcAft>
              <a:buClr>
                <a:schemeClr val="dk1"/>
              </a:buClr>
              <a:buSzPts val="1800"/>
              <a:buNone/>
            </a:pPr>
            <a:r>
              <a:t/>
            </a:r>
            <a:endParaRPr sz="1800">
              <a:latin typeface="Times New Roman"/>
              <a:ea typeface="Times New Roman"/>
              <a:cs typeface="Times New Roman"/>
              <a:sym typeface="Times New Roman"/>
            </a:endParaRPr>
          </a:p>
          <a:p>
            <a:pPr indent="-342900" lvl="0" marL="457200" rtl="0" algn="l">
              <a:lnSpc>
                <a:spcPct val="90000"/>
              </a:lnSpc>
              <a:spcBef>
                <a:spcPts val="0"/>
              </a:spcBef>
              <a:spcAft>
                <a:spcPts val="0"/>
              </a:spcAft>
              <a:buClr>
                <a:schemeClr val="dk1"/>
              </a:buClr>
              <a:buSzPts val="1800"/>
              <a:buFont typeface="Times New Roman"/>
              <a:buChar char="•"/>
            </a:pPr>
            <a:r>
              <a:rPr lang="en-IN" sz="1800">
                <a:latin typeface="Times New Roman"/>
                <a:ea typeface="Times New Roman"/>
                <a:cs typeface="Times New Roman"/>
                <a:sym typeface="Times New Roman"/>
              </a:rPr>
              <a:t>Microsoft. Overview of Microsoft 365 Copilot and AI Capabilities.</a:t>
            </a:r>
            <a:endParaRPr sz="1800">
              <a:latin typeface="Times New Roman"/>
              <a:ea typeface="Times New Roman"/>
              <a:cs typeface="Times New Roman"/>
              <a:sym typeface="Times New Roman"/>
            </a:endParaRPr>
          </a:p>
          <a:p>
            <a:pPr indent="0" lvl="0" marL="457200" rtl="0" algn="l">
              <a:lnSpc>
                <a:spcPct val="90000"/>
              </a:lnSpc>
              <a:spcBef>
                <a:spcPts val="0"/>
              </a:spcBef>
              <a:spcAft>
                <a:spcPts val="0"/>
              </a:spcAft>
              <a:buClr>
                <a:schemeClr val="dk1"/>
              </a:buClr>
              <a:buSzPts val="1800"/>
              <a:buNone/>
            </a:pPr>
            <a:r>
              <a:t/>
            </a:r>
            <a:endParaRPr sz="1800">
              <a:latin typeface="Times New Roman"/>
              <a:ea typeface="Times New Roman"/>
              <a:cs typeface="Times New Roman"/>
              <a:sym typeface="Times New Roman"/>
            </a:endParaRPr>
          </a:p>
          <a:p>
            <a:pPr indent="-342900" lvl="0" marL="457200" rtl="0" algn="l">
              <a:lnSpc>
                <a:spcPct val="90000"/>
              </a:lnSpc>
              <a:spcBef>
                <a:spcPts val="0"/>
              </a:spcBef>
              <a:spcAft>
                <a:spcPts val="0"/>
              </a:spcAft>
              <a:buClr>
                <a:schemeClr val="dk1"/>
              </a:buClr>
              <a:buSzPts val="1800"/>
              <a:buFont typeface="Times New Roman"/>
              <a:buChar char="•"/>
            </a:pPr>
            <a:r>
              <a:rPr lang="en-IN" sz="1800">
                <a:latin typeface="Times New Roman"/>
                <a:ea typeface="Times New Roman"/>
                <a:cs typeface="Times New Roman"/>
                <a:sym typeface="Times New Roman"/>
              </a:rPr>
              <a:t>OpenAI. Large Language Models and Natural Language Generation.</a:t>
            </a:r>
            <a:endParaRPr sz="1800">
              <a:latin typeface="Times New Roman"/>
              <a:ea typeface="Times New Roman"/>
              <a:cs typeface="Times New Roman"/>
              <a:sym typeface="Times New Roman"/>
            </a:endParaRPr>
          </a:p>
          <a:p>
            <a:pPr indent="0" lvl="0" marL="457200" rtl="0" algn="l">
              <a:lnSpc>
                <a:spcPct val="90000"/>
              </a:lnSpc>
              <a:spcBef>
                <a:spcPts val="0"/>
              </a:spcBef>
              <a:spcAft>
                <a:spcPts val="0"/>
              </a:spcAft>
              <a:buClr>
                <a:schemeClr val="dk1"/>
              </a:buClr>
              <a:buSzPts val="1800"/>
              <a:buNone/>
            </a:pPr>
            <a:r>
              <a:t/>
            </a:r>
            <a:endParaRPr sz="1800">
              <a:latin typeface="Times New Roman"/>
              <a:ea typeface="Times New Roman"/>
              <a:cs typeface="Times New Roman"/>
              <a:sym typeface="Times New Roman"/>
            </a:endParaRPr>
          </a:p>
          <a:p>
            <a:pPr indent="-342900" lvl="0" marL="457200" rtl="0" algn="l">
              <a:lnSpc>
                <a:spcPct val="90000"/>
              </a:lnSpc>
              <a:spcBef>
                <a:spcPts val="0"/>
              </a:spcBef>
              <a:spcAft>
                <a:spcPts val="0"/>
              </a:spcAft>
              <a:buClr>
                <a:schemeClr val="dk1"/>
              </a:buClr>
              <a:buSzPts val="1800"/>
              <a:buFont typeface="Times New Roman"/>
              <a:buChar char="•"/>
            </a:pPr>
            <a:r>
              <a:rPr lang="en-IN" sz="1800">
                <a:latin typeface="Times New Roman"/>
                <a:ea typeface="Times New Roman"/>
                <a:cs typeface="Times New Roman"/>
                <a:sym typeface="Times New Roman"/>
              </a:rPr>
              <a:t>Microsoft Learn. Building AI Agents using Copilot Studio.</a:t>
            </a:r>
            <a:endParaRPr sz="1800">
              <a:latin typeface="Times New Roman"/>
              <a:ea typeface="Times New Roman"/>
              <a:cs typeface="Times New Roman"/>
              <a:sym typeface="Times New Roman"/>
            </a:endParaRPr>
          </a:p>
          <a:p>
            <a:pPr indent="0" lvl="0" marL="457200" rtl="0" algn="l">
              <a:lnSpc>
                <a:spcPct val="90000"/>
              </a:lnSpc>
              <a:spcBef>
                <a:spcPts val="0"/>
              </a:spcBef>
              <a:spcAft>
                <a:spcPts val="0"/>
              </a:spcAft>
              <a:buClr>
                <a:schemeClr val="dk1"/>
              </a:buClr>
              <a:buSzPts val="1800"/>
              <a:buNone/>
            </a:pPr>
            <a:r>
              <a:t/>
            </a:r>
            <a:endParaRPr sz="1800">
              <a:latin typeface="Times New Roman"/>
              <a:ea typeface="Times New Roman"/>
              <a:cs typeface="Times New Roman"/>
              <a:sym typeface="Times New Roman"/>
            </a:endParaRPr>
          </a:p>
          <a:p>
            <a:pPr indent="-342900" lvl="0" marL="457200" rtl="0" algn="l">
              <a:lnSpc>
                <a:spcPct val="90000"/>
              </a:lnSpc>
              <a:spcBef>
                <a:spcPts val="0"/>
              </a:spcBef>
              <a:spcAft>
                <a:spcPts val="0"/>
              </a:spcAft>
              <a:buClr>
                <a:schemeClr val="dk1"/>
              </a:buClr>
              <a:buSzPts val="1800"/>
              <a:buFont typeface="Times New Roman"/>
              <a:buChar char="•"/>
            </a:pPr>
            <a:r>
              <a:rPr lang="en-IN" sz="1800">
                <a:latin typeface="Times New Roman"/>
                <a:ea typeface="Times New Roman"/>
                <a:cs typeface="Times New Roman"/>
                <a:sym typeface="Times New Roman"/>
              </a:rPr>
              <a:t>Research articles and online resources related to academic and office communication standards.</a:t>
            </a:r>
            <a:endParaRPr sz="1800">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ctr">
              <a:lnSpc>
                <a:spcPct val="90000"/>
              </a:lnSpc>
              <a:spcBef>
                <a:spcPts val="1000"/>
              </a:spcBef>
              <a:spcAft>
                <a:spcPts val="0"/>
              </a:spcAft>
              <a:buClr>
                <a:schemeClr val="dk1"/>
              </a:buClr>
              <a:buSzPts val="2200"/>
              <a:buNone/>
            </a:pPr>
            <a:r>
              <a:rPr lang="en-IN" sz="1800">
                <a:latin typeface="Times New Roman"/>
                <a:ea typeface="Times New Roman"/>
                <a:cs typeface="Times New Roman"/>
                <a:sym typeface="Times New Roman"/>
              </a:rPr>
              <a:t>GitHub Link:</a:t>
            </a:r>
            <a:endParaRPr sz="1800">
              <a:latin typeface="Times New Roman"/>
              <a:ea typeface="Times New Roman"/>
              <a:cs typeface="Times New Roman"/>
              <a:sym typeface="Times New Roman"/>
            </a:endParaRPr>
          </a:p>
          <a:p>
            <a:pPr indent="0" lvl="0" marL="0" rtl="0" algn="ctr">
              <a:lnSpc>
                <a:spcPct val="90000"/>
              </a:lnSpc>
              <a:spcBef>
                <a:spcPts val="1000"/>
              </a:spcBef>
              <a:spcAft>
                <a:spcPts val="0"/>
              </a:spcAft>
              <a:buClr>
                <a:schemeClr val="dk1"/>
              </a:buClr>
              <a:buSzPts val="2200"/>
              <a:buNone/>
            </a:pPr>
            <a:r>
              <a:rPr lang="en-IN" sz="1400" u="sng">
                <a:solidFill>
                  <a:srgbClr val="4A86E8"/>
                </a:solidFill>
                <a:latin typeface="Times New Roman"/>
                <a:ea typeface="Times New Roman"/>
                <a:cs typeface="Times New Roman"/>
                <a:sym typeface="Times New Roman"/>
                <a:hlinkClick r:id="rId2">
                  <a:extLst>
                    <a:ext uri="{A12FA001-AC4F-418D-AE19-62706E023703}">
                      <ahyp:hlinkClr val="tx"/>
                    </a:ext>
                  </a:extLst>
                </a:hlinkClick>
              </a:rPr>
              <a:t>https://github.com/Janmejay-Pandya01/MS-ELEVATE-COPILOT-INTERNSHIP-AICTE-EDUNET-FOUNDATION.git</a:t>
            </a:r>
            <a:endParaRPr sz="1400">
              <a:solidFill>
                <a:srgbClr val="4A86E8"/>
              </a:solidFill>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200"/>
              <a:buNone/>
            </a:pPr>
            <a:r>
              <a:t/>
            </a:r>
            <a:endParaRPr sz="14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2" name="Shape 2162"/>
        <p:cNvGrpSpPr/>
        <p:nvPr/>
      </p:nvGrpSpPr>
      <p:grpSpPr>
        <a:xfrm>
          <a:off x="0" y="0"/>
          <a:ext cx="0" cy="0"/>
          <a:chOff x="0" y="0"/>
          <a:chExt cx="0" cy="0"/>
        </a:xfrm>
      </p:grpSpPr>
      <p:sp>
        <p:nvSpPr>
          <p:cNvPr id="2163" name="Google Shape;2163;p20"/>
          <p:cNvSpPr txBox="1"/>
          <p:nvPr/>
        </p:nvSpPr>
        <p:spPr>
          <a:xfrm>
            <a:off x="314324" y="6312352"/>
            <a:ext cx="3724200" cy="295200"/>
          </a:xfrm>
          <a:prstGeom prst="rect">
            <a:avLst/>
          </a:prstGeom>
          <a:noFill/>
          <a:ln>
            <a:noFill/>
          </a:ln>
        </p:spPr>
        <p:txBody>
          <a:bodyPr anchorCtr="0" anchor="t" bIns="45700" lIns="91425" spcFirstLastPara="1" rIns="91425" wrap="square" tIns="45700">
            <a:noAutofit/>
          </a:bodyPr>
          <a:lstStyle/>
          <a:p>
            <a:pPr indent="-173736" lvl="0" marL="173736" marR="0" rtl="0" algn="l">
              <a:spcBef>
                <a:spcPts val="0"/>
              </a:spcBef>
              <a:spcAft>
                <a:spcPts val="0"/>
              </a:spcAft>
              <a:buClr>
                <a:schemeClr val="dk1"/>
              </a:buClr>
              <a:buSzPts val="1400"/>
              <a:buFont typeface="Arial"/>
              <a:buNone/>
            </a:pPr>
            <a:r>
              <a:t/>
            </a:r>
            <a:endParaRPr sz="1400">
              <a:solidFill>
                <a:schemeClr val="dk1"/>
              </a:solidFill>
              <a:latin typeface="Arial"/>
              <a:ea typeface="Arial"/>
              <a:cs typeface="Arial"/>
              <a:sym typeface="Arial"/>
            </a:endParaRPr>
          </a:p>
        </p:txBody>
      </p:sp>
      <p:sp>
        <p:nvSpPr>
          <p:cNvPr id="2164" name="Google Shape;2164;p20"/>
          <p:cNvSpPr txBox="1"/>
          <p:nvPr/>
        </p:nvSpPr>
        <p:spPr>
          <a:xfrm>
            <a:off x="3247650" y="2738553"/>
            <a:ext cx="5696700" cy="1380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002060"/>
              </a:buClr>
              <a:buSzPts val="4800"/>
              <a:buFont typeface="Arial"/>
              <a:buNone/>
            </a:pPr>
            <a:r>
              <a:rPr b="1" lang="en-IN" sz="7200">
                <a:solidFill>
                  <a:srgbClr val="F1C232"/>
                </a:solidFill>
                <a:latin typeface="Times New Roman"/>
                <a:ea typeface="Times New Roman"/>
                <a:cs typeface="Times New Roman"/>
                <a:sym typeface="Times New Roman"/>
              </a:rPr>
              <a:t>Thank You</a:t>
            </a:r>
            <a:endParaRPr sz="7200">
              <a:solidFill>
                <a:srgbClr val="F1C232"/>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89" name="Shape 2189"/>
        <p:cNvGrpSpPr/>
        <p:nvPr/>
      </p:nvGrpSpPr>
      <p:grpSpPr>
        <a:xfrm>
          <a:off x="0" y="0"/>
          <a:ext cx="0" cy="0"/>
          <a:chOff x="0" y="0"/>
          <a:chExt cx="0" cy="0"/>
        </a:xfrm>
      </p:grpSpPr>
      <p:sp>
        <p:nvSpPr>
          <p:cNvPr id="2190" name="Google Shape;2190;p6"/>
          <p:cNvSpPr txBox="1"/>
          <p:nvPr>
            <p:ph type="title"/>
          </p:nvPr>
        </p:nvSpPr>
        <p:spPr>
          <a:xfrm>
            <a:off x="-548" y="699528"/>
            <a:ext cx="105156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Arial"/>
              <a:buNone/>
            </a:pPr>
            <a:r>
              <a:rPr b="1" lang="en-IN" sz="4000" cap="none">
                <a:solidFill>
                  <a:srgbClr val="F1C232"/>
                </a:solidFill>
                <a:latin typeface="Arial"/>
                <a:ea typeface="Arial"/>
                <a:cs typeface="Arial"/>
                <a:sym typeface="Arial"/>
              </a:rPr>
              <a:t>SYSTEM  APPROACH:</a:t>
            </a:r>
            <a:endParaRPr sz="4000">
              <a:solidFill>
                <a:srgbClr val="F1C232"/>
              </a:solidFill>
            </a:endParaRPr>
          </a:p>
        </p:txBody>
      </p:sp>
      <p:sp>
        <p:nvSpPr>
          <p:cNvPr id="2191" name="Google Shape;2191;p6"/>
          <p:cNvSpPr txBox="1"/>
          <p:nvPr>
            <p:ph idx="1" type="body"/>
          </p:nvPr>
        </p:nvSpPr>
        <p:spPr>
          <a:xfrm>
            <a:off x="317409" y="1715586"/>
            <a:ext cx="10515600" cy="4251900"/>
          </a:xfrm>
          <a:prstGeom prst="rect">
            <a:avLst/>
          </a:prstGeom>
          <a:noFill/>
          <a:ln>
            <a:noFill/>
          </a:ln>
        </p:spPr>
        <p:txBody>
          <a:bodyPr anchorCtr="0" anchor="t" bIns="45700" lIns="91425" spcFirstLastPara="1" rIns="91425" wrap="square" tIns="45700">
            <a:normAutofit/>
          </a:bodyPr>
          <a:lstStyle/>
          <a:p>
            <a:pPr indent="0" lvl="0" marL="457200" rtl="0" algn="just">
              <a:lnSpc>
                <a:spcPct val="90000"/>
              </a:lnSpc>
              <a:spcBef>
                <a:spcPts val="0"/>
              </a:spcBef>
              <a:spcAft>
                <a:spcPts val="0"/>
              </a:spcAft>
              <a:buClr>
                <a:schemeClr val="dk1"/>
              </a:buClr>
              <a:buSzPts val="1800"/>
              <a:buNone/>
            </a:pPr>
            <a:r>
              <a:rPr b="1" lang="en-IN" sz="1800">
                <a:latin typeface="Times New Roman"/>
                <a:ea typeface="Times New Roman"/>
                <a:cs typeface="Times New Roman"/>
                <a:sym typeface="Times New Roman"/>
              </a:rPr>
              <a:t>System Development Approach</a:t>
            </a:r>
            <a:r>
              <a:rPr lang="en-IN"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a:p>
            <a:pPr indent="0" lvl="0" marL="457200" rtl="0" algn="just">
              <a:lnSpc>
                <a:spcPct val="90000"/>
              </a:lnSpc>
              <a:spcBef>
                <a:spcPts val="0"/>
              </a:spcBef>
              <a:spcAft>
                <a:spcPts val="0"/>
              </a:spcAft>
              <a:buClr>
                <a:schemeClr val="dk1"/>
              </a:buClr>
              <a:buSzPts val="1800"/>
              <a:buNone/>
            </a:pPr>
            <a:r>
              <a:t/>
            </a:r>
            <a:endParaRPr sz="1800">
              <a:latin typeface="Times New Roman"/>
              <a:ea typeface="Times New Roman"/>
              <a:cs typeface="Times New Roman"/>
              <a:sym typeface="Times New Roman"/>
            </a:endParaRPr>
          </a:p>
          <a:p>
            <a:pPr indent="-342900" lvl="0" marL="457200" rtl="0" algn="just">
              <a:lnSpc>
                <a:spcPct val="90000"/>
              </a:lnSpc>
              <a:spcBef>
                <a:spcPts val="0"/>
              </a:spcBef>
              <a:spcAft>
                <a:spcPts val="0"/>
              </a:spcAft>
              <a:buClr>
                <a:schemeClr val="dk1"/>
              </a:buClr>
              <a:buSzPts val="1800"/>
              <a:buFont typeface="Times New Roman"/>
              <a:buChar char="•"/>
            </a:pPr>
            <a:r>
              <a:rPr lang="en-IN" sz="1800">
                <a:latin typeface="Times New Roman"/>
                <a:ea typeface="Times New Roman"/>
                <a:cs typeface="Times New Roman"/>
                <a:sym typeface="Times New Roman"/>
              </a:rPr>
              <a:t>The system was developed using Microsoft Copilot Studio, focusing on creating an instruction-driven AI agent tailored for academic and office communication tasks.</a:t>
            </a:r>
            <a:endParaRPr sz="1800">
              <a:latin typeface="Times New Roman"/>
              <a:ea typeface="Times New Roman"/>
              <a:cs typeface="Times New Roman"/>
              <a:sym typeface="Times New Roman"/>
            </a:endParaRPr>
          </a:p>
          <a:p>
            <a:pPr indent="0" lvl="0" marL="914400" rtl="0" algn="just">
              <a:lnSpc>
                <a:spcPct val="90000"/>
              </a:lnSpc>
              <a:spcBef>
                <a:spcPts val="0"/>
              </a:spcBef>
              <a:spcAft>
                <a:spcPts val="0"/>
              </a:spcAft>
              <a:buClr>
                <a:schemeClr val="dk1"/>
              </a:buClr>
              <a:buSzPts val="1800"/>
              <a:buNone/>
            </a:pPr>
            <a:r>
              <a:t/>
            </a:r>
            <a:endParaRPr sz="1800">
              <a:latin typeface="Times New Roman"/>
              <a:ea typeface="Times New Roman"/>
              <a:cs typeface="Times New Roman"/>
              <a:sym typeface="Times New Roman"/>
            </a:endParaRPr>
          </a:p>
          <a:p>
            <a:pPr indent="-342900" lvl="0" marL="457200" rtl="0" algn="just">
              <a:lnSpc>
                <a:spcPct val="90000"/>
              </a:lnSpc>
              <a:spcBef>
                <a:spcPts val="0"/>
              </a:spcBef>
              <a:spcAft>
                <a:spcPts val="0"/>
              </a:spcAft>
              <a:buClr>
                <a:schemeClr val="dk1"/>
              </a:buClr>
              <a:buSzPts val="1800"/>
              <a:buFont typeface="Times New Roman"/>
              <a:buChar char="•"/>
            </a:pPr>
            <a:r>
              <a:rPr lang="en-IN" sz="1800">
                <a:latin typeface="Times New Roman"/>
                <a:ea typeface="Times New Roman"/>
                <a:cs typeface="Times New Roman"/>
                <a:sym typeface="Times New Roman"/>
              </a:rPr>
              <a:t>A structured prompt design approach was followed, defining clear roles, responsibilities, and behavioral rules for the agent to ensure professional and consistent outputs.</a:t>
            </a:r>
            <a:endParaRPr sz="1800">
              <a:latin typeface="Times New Roman"/>
              <a:ea typeface="Times New Roman"/>
              <a:cs typeface="Times New Roman"/>
              <a:sym typeface="Times New Roman"/>
            </a:endParaRPr>
          </a:p>
          <a:p>
            <a:pPr indent="0" lvl="0" marL="914400" rtl="0" algn="just">
              <a:lnSpc>
                <a:spcPct val="90000"/>
              </a:lnSpc>
              <a:spcBef>
                <a:spcPts val="0"/>
              </a:spcBef>
              <a:spcAft>
                <a:spcPts val="0"/>
              </a:spcAft>
              <a:buClr>
                <a:schemeClr val="dk1"/>
              </a:buClr>
              <a:buSzPts val="1800"/>
              <a:buNone/>
            </a:pPr>
            <a:r>
              <a:t/>
            </a:r>
            <a:endParaRPr sz="1800">
              <a:latin typeface="Times New Roman"/>
              <a:ea typeface="Times New Roman"/>
              <a:cs typeface="Times New Roman"/>
              <a:sym typeface="Times New Roman"/>
            </a:endParaRPr>
          </a:p>
          <a:p>
            <a:pPr indent="-342900" lvl="0" marL="457200" rtl="0" algn="just">
              <a:lnSpc>
                <a:spcPct val="90000"/>
              </a:lnSpc>
              <a:spcBef>
                <a:spcPts val="0"/>
              </a:spcBef>
              <a:spcAft>
                <a:spcPts val="0"/>
              </a:spcAft>
              <a:buClr>
                <a:schemeClr val="dk1"/>
              </a:buClr>
              <a:buSzPts val="1800"/>
              <a:buFont typeface="Times New Roman"/>
              <a:buChar char="•"/>
            </a:pPr>
            <a:r>
              <a:rPr lang="en-IN" sz="1800">
                <a:latin typeface="Times New Roman"/>
                <a:ea typeface="Times New Roman"/>
                <a:cs typeface="Times New Roman"/>
                <a:sym typeface="Times New Roman"/>
              </a:rPr>
              <a:t>The agent workflow was designed to analyze user input, determine the required document type (email, notice, or circular), and apply appropriate formatting and tone.</a:t>
            </a:r>
            <a:endParaRPr sz="1800">
              <a:latin typeface="Times New Roman"/>
              <a:ea typeface="Times New Roman"/>
              <a:cs typeface="Times New Roman"/>
              <a:sym typeface="Times New Roman"/>
            </a:endParaRPr>
          </a:p>
          <a:p>
            <a:pPr indent="0" lvl="0" marL="914400" rtl="0" algn="just">
              <a:lnSpc>
                <a:spcPct val="90000"/>
              </a:lnSpc>
              <a:spcBef>
                <a:spcPts val="0"/>
              </a:spcBef>
              <a:spcAft>
                <a:spcPts val="0"/>
              </a:spcAft>
              <a:buClr>
                <a:schemeClr val="dk1"/>
              </a:buClr>
              <a:buSzPts val="1800"/>
              <a:buNone/>
            </a:pPr>
            <a:r>
              <a:t/>
            </a:r>
            <a:endParaRPr sz="1800">
              <a:latin typeface="Times New Roman"/>
              <a:ea typeface="Times New Roman"/>
              <a:cs typeface="Times New Roman"/>
              <a:sym typeface="Times New Roman"/>
            </a:endParaRPr>
          </a:p>
          <a:p>
            <a:pPr indent="-342900" lvl="0" marL="457200" rtl="0" algn="just">
              <a:lnSpc>
                <a:spcPct val="90000"/>
              </a:lnSpc>
              <a:spcBef>
                <a:spcPts val="0"/>
              </a:spcBef>
              <a:spcAft>
                <a:spcPts val="0"/>
              </a:spcAft>
              <a:buClr>
                <a:schemeClr val="dk1"/>
              </a:buClr>
              <a:buSzPts val="1800"/>
              <a:buFont typeface="Times New Roman"/>
              <a:buChar char="•"/>
            </a:pPr>
            <a:r>
              <a:rPr lang="en-IN" sz="1800">
                <a:latin typeface="Times New Roman"/>
                <a:ea typeface="Times New Roman"/>
                <a:cs typeface="Times New Roman"/>
                <a:sym typeface="Times New Roman"/>
              </a:rPr>
              <a:t>Validation logic was incorporated to identify missing information such as subject, date, or audience, prompting the user before generating the final draft.</a:t>
            </a:r>
            <a:endParaRPr sz="180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92" name="Shape 2192"/>
        <p:cNvGrpSpPr/>
        <p:nvPr/>
      </p:nvGrpSpPr>
      <p:grpSpPr>
        <a:xfrm>
          <a:off x="0" y="0"/>
          <a:ext cx="0" cy="0"/>
          <a:chOff x="0" y="0"/>
          <a:chExt cx="0" cy="0"/>
        </a:xfrm>
      </p:grpSpPr>
      <p:sp>
        <p:nvSpPr>
          <p:cNvPr id="2193" name="Google Shape;2193;p7"/>
          <p:cNvSpPr txBox="1"/>
          <p:nvPr>
            <p:ph type="title"/>
          </p:nvPr>
        </p:nvSpPr>
        <p:spPr>
          <a:xfrm>
            <a:off x="-548" y="699528"/>
            <a:ext cx="105156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Arial"/>
              <a:buNone/>
            </a:pPr>
            <a:r>
              <a:rPr b="1" lang="en-IN" sz="4000" cap="none">
                <a:solidFill>
                  <a:srgbClr val="F1C232"/>
                </a:solidFill>
                <a:latin typeface="Arial"/>
                <a:ea typeface="Arial"/>
                <a:cs typeface="Arial"/>
                <a:sym typeface="Arial"/>
              </a:rPr>
              <a:t>SYSTEM  APPROACH:</a:t>
            </a:r>
            <a:endParaRPr sz="4000">
              <a:solidFill>
                <a:srgbClr val="F1C232"/>
              </a:solidFill>
            </a:endParaRPr>
          </a:p>
        </p:txBody>
      </p:sp>
      <p:sp>
        <p:nvSpPr>
          <p:cNvPr id="2194" name="Google Shape;2194;p7"/>
          <p:cNvSpPr txBox="1"/>
          <p:nvPr>
            <p:ph idx="1" type="body"/>
          </p:nvPr>
        </p:nvSpPr>
        <p:spPr>
          <a:xfrm>
            <a:off x="317409" y="1715586"/>
            <a:ext cx="10515600" cy="425190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1800"/>
              <a:buNone/>
            </a:pPr>
            <a:r>
              <a:rPr b="1" lang="en-IN" sz="1800" u="sng">
                <a:latin typeface="Times New Roman"/>
                <a:ea typeface="Times New Roman"/>
                <a:cs typeface="Times New Roman"/>
                <a:sym typeface="Times New Roman"/>
              </a:rPr>
              <a:t>Technology Used:</a:t>
            </a:r>
            <a:endParaRPr b="1" sz="1800" u="sng">
              <a:latin typeface="Times New Roman"/>
              <a:ea typeface="Times New Roman"/>
              <a:cs typeface="Times New Roman"/>
              <a:sym typeface="Times New Roman"/>
            </a:endParaRPr>
          </a:p>
          <a:p>
            <a:pPr indent="0" lvl="0" marL="0" rtl="0" algn="just">
              <a:lnSpc>
                <a:spcPct val="90000"/>
              </a:lnSpc>
              <a:spcBef>
                <a:spcPts val="0"/>
              </a:spcBef>
              <a:spcAft>
                <a:spcPts val="0"/>
              </a:spcAft>
              <a:buClr>
                <a:schemeClr val="dk1"/>
              </a:buClr>
              <a:buSzPts val="1800"/>
              <a:buNone/>
            </a:pPr>
            <a:r>
              <a:t/>
            </a:r>
            <a:endParaRPr sz="1800">
              <a:latin typeface="Times New Roman"/>
              <a:ea typeface="Times New Roman"/>
              <a:cs typeface="Times New Roman"/>
              <a:sym typeface="Times New Roman"/>
            </a:endParaRPr>
          </a:p>
          <a:p>
            <a:pPr indent="-342900" lvl="0" marL="457200" rtl="0" algn="just">
              <a:lnSpc>
                <a:spcPct val="90000"/>
              </a:lnSpc>
              <a:spcBef>
                <a:spcPts val="0"/>
              </a:spcBef>
              <a:spcAft>
                <a:spcPts val="0"/>
              </a:spcAft>
              <a:buClr>
                <a:schemeClr val="dk1"/>
              </a:buClr>
              <a:buSzPts val="1800"/>
              <a:buFont typeface="Times New Roman"/>
              <a:buChar char="•"/>
            </a:pPr>
            <a:r>
              <a:rPr lang="en-IN" sz="1800">
                <a:latin typeface="Times New Roman"/>
                <a:ea typeface="Times New Roman"/>
                <a:cs typeface="Times New Roman"/>
                <a:sym typeface="Times New Roman"/>
              </a:rPr>
              <a:t>Microsoft Copilot Studio – Used to design, configure, and manage the AI-based communication drafting agent.</a:t>
            </a:r>
            <a:endParaRPr sz="1800">
              <a:latin typeface="Times New Roman"/>
              <a:ea typeface="Times New Roman"/>
              <a:cs typeface="Times New Roman"/>
              <a:sym typeface="Times New Roman"/>
            </a:endParaRPr>
          </a:p>
          <a:p>
            <a:pPr indent="0" lvl="0" marL="457200" rtl="0" algn="just">
              <a:lnSpc>
                <a:spcPct val="90000"/>
              </a:lnSpc>
              <a:spcBef>
                <a:spcPts val="0"/>
              </a:spcBef>
              <a:spcAft>
                <a:spcPts val="0"/>
              </a:spcAft>
              <a:buClr>
                <a:schemeClr val="dk1"/>
              </a:buClr>
              <a:buSzPts val="1800"/>
              <a:buNone/>
            </a:pPr>
            <a:r>
              <a:t/>
            </a:r>
            <a:endParaRPr sz="1800">
              <a:latin typeface="Times New Roman"/>
              <a:ea typeface="Times New Roman"/>
              <a:cs typeface="Times New Roman"/>
              <a:sym typeface="Times New Roman"/>
            </a:endParaRPr>
          </a:p>
          <a:p>
            <a:pPr indent="-342900" lvl="0" marL="457200" rtl="0" algn="just">
              <a:lnSpc>
                <a:spcPct val="90000"/>
              </a:lnSpc>
              <a:spcBef>
                <a:spcPts val="0"/>
              </a:spcBef>
              <a:spcAft>
                <a:spcPts val="0"/>
              </a:spcAft>
              <a:buClr>
                <a:schemeClr val="dk1"/>
              </a:buClr>
              <a:buSzPts val="1800"/>
              <a:buFont typeface="Times New Roman"/>
              <a:buChar char="•"/>
            </a:pPr>
            <a:r>
              <a:rPr lang="en-IN" sz="1800">
                <a:latin typeface="Times New Roman"/>
                <a:ea typeface="Times New Roman"/>
                <a:cs typeface="Times New Roman"/>
                <a:sym typeface="Times New Roman"/>
              </a:rPr>
              <a:t>Large Language Model (LLM) – Utilized for natural language understanding, content generation, and tone adaptation.</a:t>
            </a:r>
            <a:endParaRPr sz="1800">
              <a:latin typeface="Times New Roman"/>
              <a:ea typeface="Times New Roman"/>
              <a:cs typeface="Times New Roman"/>
              <a:sym typeface="Times New Roman"/>
            </a:endParaRPr>
          </a:p>
          <a:p>
            <a:pPr indent="0" lvl="0" marL="457200" rtl="0" algn="just">
              <a:lnSpc>
                <a:spcPct val="90000"/>
              </a:lnSpc>
              <a:spcBef>
                <a:spcPts val="0"/>
              </a:spcBef>
              <a:spcAft>
                <a:spcPts val="0"/>
              </a:spcAft>
              <a:buClr>
                <a:schemeClr val="dk1"/>
              </a:buClr>
              <a:buSzPts val="1800"/>
              <a:buNone/>
            </a:pPr>
            <a:r>
              <a:t/>
            </a:r>
            <a:endParaRPr sz="1800">
              <a:latin typeface="Times New Roman"/>
              <a:ea typeface="Times New Roman"/>
              <a:cs typeface="Times New Roman"/>
              <a:sym typeface="Times New Roman"/>
            </a:endParaRPr>
          </a:p>
          <a:p>
            <a:pPr indent="-342900" lvl="0" marL="457200" rtl="0" algn="just">
              <a:lnSpc>
                <a:spcPct val="90000"/>
              </a:lnSpc>
              <a:spcBef>
                <a:spcPts val="0"/>
              </a:spcBef>
              <a:spcAft>
                <a:spcPts val="0"/>
              </a:spcAft>
              <a:buClr>
                <a:schemeClr val="dk1"/>
              </a:buClr>
              <a:buSzPts val="1800"/>
              <a:buFont typeface="Times New Roman"/>
              <a:buChar char="•"/>
            </a:pPr>
            <a:r>
              <a:rPr lang="en-IN" sz="1800">
                <a:latin typeface="Times New Roman"/>
                <a:ea typeface="Times New Roman"/>
                <a:cs typeface="Times New Roman"/>
                <a:sym typeface="Times New Roman"/>
              </a:rPr>
              <a:t>Microsoft 365 Integration – Enables seamless drafting and editing within Outlook and Word.</a:t>
            </a:r>
            <a:endParaRPr sz="1800">
              <a:latin typeface="Times New Roman"/>
              <a:ea typeface="Times New Roman"/>
              <a:cs typeface="Times New Roman"/>
              <a:sym typeface="Times New Roman"/>
            </a:endParaRPr>
          </a:p>
          <a:p>
            <a:pPr indent="0" lvl="0" marL="457200" rtl="0" algn="just">
              <a:lnSpc>
                <a:spcPct val="90000"/>
              </a:lnSpc>
              <a:spcBef>
                <a:spcPts val="0"/>
              </a:spcBef>
              <a:spcAft>
                <a:spcPts val="0"/>
              </a:spcAft>
              <a:buClr>
                <a:schemeClr val="dk1"/>
              </a:buClr>
              <a:buSzPts val="1800"/>
              <a:buNone/>
            </a:pPr>
            <a:r>
              <a:t/>
            </a:r>
            <a:endParaRPr sz="1800">
              <a:latin typeface="Times New Roman"/>
              <a:ea typeface="Times New Roman"/>
              <a:cs typeface="Times New Roman"/>
              <a:sym typeface="Times New Roman"/>
            </a:endParaRPr>
          </a:p>
          <a:p>
            <a:pPr indent="-342900" lvl="0" marL="457200" rtl="0" algn="just">
              <a:lnSpc>
                <a:spcPct val="90000"/>
              </a:lnSpc>
              <a:spcBef>
                <a:spcPts val="0"/>
              </a:spcBef>
              <a:spcAft>
                <a:spcPts val="0"/>
              </a:spcAft>
              <a:buClr>
                <a:schemeClr val="dk1"/>
              </a:buClr>
              <a:buSzPts val="1800"/>
              <a:buFont typeface="Times New Roman"/>
              <a:buChar char="•"/>
            </a:pPr>
            <a:r>
              <a:rPr lang="en-IN" sz="1800">
                <a:latin typeface="Times New Roman"/>
                <a:ea typeface="Times New Roman"/>
                <a:cs typeface="Times New Roman"/>
                <a:sym typeface="Times New Roman"/>
              </a:rPr>
              <a:t>Prompt Engineering &amp; Rule-Based Instructions – Ensures adherence to institutional communication standards and controlled content generation.</a:t>
            </a:r>
            <a:endParaRPr sz="180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95" name="Shape 2195"/>
        <p:cNvGrpSpPr/>
        <p:nvPr/>
      </p:nvGrpSpPr>
      <p:grpSpPr>
        <a:xfrm>
          <a:off x="0" y="0"/>
          <a:ext cx="0" cy="0"/>
          <a:chOff x="0" y="0"/>
          <a:chExt cx="0" cy="0"/>
        </a:xfrm>
      </p:grpSpPr>
      <p:sp>
        <p:nvSpPr>
          <p:cNvPr id="2196" name="Google Shape;2196;p8"/>
          <p:cNvSpPr txBox="1"/>
          <p:nvPr>
            <p:ph type="title"/>
          </p:nvPr>
        </p:nvSpPr>
        <p:spPr>
          <a:xfrm>
            <a:off x="-1191" y="686594"/>
            <a:ext cx="105156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Arial"/>
              <a:buNone/>
            </a:pPr>
            <a:r>
              <a:rPr b="1" lang="en-IN" sz="4000" cap="none">
                <a:solidFill>
                  <a:srgbClr val="F1C232"/>
                </a:solidFill>
                <a:latin typeface="Arial"/>
                <a:ea typeface="Arial"/>
                <a:cs typeface="Arial"/>
                <a:sym typeface="Arial"/>
              </a:rPr>
              <a:t>ALGORITHM &amp; DEPLOYMENT:</a:t>
            </a:r>
            <a:endParaRPr sz="4000">
              <a:solidFill>
                <a:srgbClr val="F1C232"/>
              </a:solidFill>
            </a:endParaRPr>
          </a:p>
        </p:txBody>
      </p:sp>
      <p:sp>
        <p:nvSpPr>
          <p:cNvPr id="2197" name="Google Shape;2197;p8"/>
          <p:cNvSpPr txBox="1"/>
          <p:nvPr>
            <p:ph idx="1" type="body"/>
          </p:nvPr>
        </p:nvSpPr>
        <p:spPr>
          <a:xfrm>
            <a:off x="495300" y="1447801"/>
            <a:ext cx="10515600" cy="52857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900"/>
              </a:spcBef>
              <a:spcAft>
                <a:spcPts val="0"/>
              </a:spcAft>
              <a:buClr>
                <a:schemeClr val="dk1"/>
              </a:buClr>
              <a:buSzPts val="1800"/>
              <a:buNone/>
            </a:pPr>
            <a:r>
              <a:rPr lang="en-IN" sz="1800">
                <a:latin typeface="Times New Roman"/>
                <a:ea typeface="Times New Roman"/>
                <a:cs typeface="Times New Roman"/>
                <a:sym typeface="Times New Roman"/>
              </a:rPr>
              <a:t>1. </a:t>
            </a:r>
            <a:r>
              <a:rPr b="1" lang="en-IN" sz="1800">
                <a:latin typeface="Times New Roman"/>
                <a:ea typeface="Times New Roman"/>
                <a:cs typeface="Times New Roman"/>
                <a:sym typeface="Times New Roman"/>
              </a:rPr>
              <a:t>Algorithm Selection:</a:t>
            </a:r>
            <a:endParaRPr b="1" sz="1800">
              <a:latin typeface="Times New Roman"/>
              <a:ea typeface="Times New Roman"/>
              <a:cs typeface="Times New Roman"/>
              <a:sym typeface="Times New Roman"/>
            </a:endParaRPr>
          </a:p>
          <a:p>
            <a:pPr indent="-342900" lvl="0" marL="457200" rtl="0" algn="l">
              <a:lnSpc>
                <a:spcPct val="90000"/>
              </a:lnSpc>
              <a:spcBef>
                <a:spcPts val="900"/>
              </a:spcBef>
              <a:spcAft>
                <a:spcPts val="0"/>
              </a:spcAft>
              <a:buClr>
                <a:schemeClr val="dk1"/>
              </a:buClr>
              <a:buSzPts val="1800"/>
              <a:buFont typeface="Times New Roman"/>
              <a:buChar char="•"/>
            </a:pPr>
            <a:r>
              <a:rPr lang="en-IN" sz="1800">
                <a:latin typeface="Times New Roman"/>
                <a:ea typeface="Times New Roman"/>
                <a:cs typeface="Times New Roman"/>
                <a:sym typeface="Times New Roman"/>
              </a:rPr>
              <a:t>An instruction-driven Large Language Model (LLM) is selected and configured using Microsoft Copilot Studio. This approach is suitable for generating structured, context-aware academic and office communications based on user instructions without requiring complex data processing.</a:t>
            </a:r>
            <a:endParaRPr sz="1800">
              <a:latin typeface="Times New Roman"/>
              <a:ea typeface="Times New Roman"/>
              <a:cs typeface="Times New Roman"/>
              <a:sym typeface="Times New Roman"/>
            </a:endParaRPr>
          </a:p>
          <a:p>
            <a:pPr indent="0" lvl="0" marL="0" rtl="0" algn="l">
              <a:lnSpc>
                <a:spcPct val="90000"/>
              </a:lnSpc>
              <a:spcBef>
                <a:spcPts val="900"/>
              </a:spcBef>
              <a:spcAft>
                <a:spcPts val="0"/>
              </a:spcAft>
              <a:buClr>
                <a:schemeClr val="dk1"/>
              </a:buClr>
              <a:buSzPts val="1800"/>
              <a:buNone/>
            </a:pPr>
            <a:r>
              <a:rPr lang="en-IN" sz="1800">
                <a:latin typeface="Times New Roman"/>
                <a:ea typeface="Times New Roman"/>
                <a:cs typeface="Times New Roman"/>
                <a:sym typeface="Times New Roman"/>
              </a:rPr>
              <a:t>2. </a:t>
            </a:r>
            <a:r>
              <a:rPr b="1" lang="en-IN" sz="1800">
                <a:latin typeface="Times New Roman"/>
                <a:ea typeface="Times New Roman"/>
                <a:cs typeface="Times New Roman"/>
                <a:sym typeface="Times New Roman"/>
              </a:rPr>
              <a:t>Data Input:</a:t>
            </a:r>
            <a:endParaRPr b="1" sz="1800">
              <a:latin typeface="Times New Roman"/>
              <a:ea typeface="Times New Roman"/>
              <a:cs typeface="Times New Roman"/>
              <a:sym typeface="Times New Roman"/>
            </a:endParaRPr>
          </a:p>
          <a:p>
            <a:pPr indent="-342900" lvl="0" marL="457200" rtl="0" algn="l">
              <a:lnSpc>
                <a:spcPct val="90000"/>
              </a:lnSpc>
              <a:spcBef>
                <a:spcPts val="900"/>
              </a:spcBef>
              <a:spcAft>
                <a:spcPts val="0"/>
              </a:spcAft>
              <a:buClr>
                <a:schemeClr val="dk1"/>
              </a:buClr>
              <a:buSzPts val="1800"/>
              <a:buFont typeface="Times New Roman"/>
              <a:buChar char="•"/>
            </a:pPr>
            <a:r>
              <a:rPr lang="en-IN" sz="1800">
                <a:latin typeface="Times New Roman"/>
                <a:ea typeface="Times New Roman"/>
                <a:cs typeface="Times New Roman"/>
                <a:sym typeface="Times New Roman"/>
              </a:rPr>
              <a:t>The algorithm takes user-provided text inputs such as brief instructions, bullet points, or informal messages. Additional inputs include tone preference (formal, polite, or student-friendly) and document type (email, notice, or circular).</a:t>
            </a:r>
            <a:endParaRPr sz="1800">
              <a:latin typeface="Times New Roman"/>
              <a:ea typeface="Times New Roman"/>
              <a:cs typeface="Times New Roman"/>
              <a:sym typeface="Times New Roman"/>
            </a:endParaRPr>
          </a:p>
          <a:p>
            <a:pPr indent="0" lvl="0" marL="0" rtl="0" algn="l">
              <a:lnSpc>
                <a:spcPct val="90000"/>
              </a:lnSpc>
              <a:spcBef>
                <a:spcPts val="900"/>
              </a:spcBef>
              <a:spcAft>
                <a:spcPts val="0"/>
              </a:spcAft>
              <a:buClr>
                <a:schemeClr val="dk1"/>
              </a:buClr>
              <a:buSzPts val="1800"/>
              <a:buNone/>
            </a:pPr>
            <a:r>
              <a:rPr lang="en-IN" sz="1800">
                <a:latin typeface="Times New Roman"/>
                <a:ea typeface="Times New Roman"/>
                <a:cs typeface="Times New Roman"/>
                <a:sym typeface="Times New Roman"/>
              </a:rPr>
              <a:t>3. </a:t>
            </a:r>
            <a:r>
              <a:rPr b="1" lang="en-IN" sz="1800">
                <a:latin typeface="Times New Roman"/>
                <a:ea typeface="Times New Roman"/>
                <a:cs typeface="Times New Roman"/>
                <a:sym typeface="Times New Roman"/>
              </a:rPr>
              <a:t>Training Process:</a:t>
            </a:r>
            <a:endParaRPr b="1" sz="1800">
              <a:latin typeface="Times New Roman"/>
              <a:ea typeface="Times New Roman"/>
              <a:cs typeface="Times New Roman"/>
              <a:sym typeface="Times New Roman"/>
            </a:endParaRPr>
          </a:p>
          <a:p>
            <a:pPr indent="-342900" lvl="0" marL="457200" rtl="0" algn="l">
              <a:lnSpc>
                <a:spcPct val="90000"/>
              </a:lnSpc>
              <a:spcBef>
                <a:spcPts val="900"/>
              </a:spcBef>
              <a:spcAft>
                <a:spcPts val="0"/>
              </a:spcAft>
              <a:buClr>
                <a:schemeClr val="dk1"/>
              </a:buClr>
              <a:buSzPts val="1800"/>
              <a:buFont typeface="Times New Roman"/>
              <a:buChar char="•"/>
            </a:pPr>
            <a:r>
              <a:rPr lang="en-IN" sz="1800">
                <a:latin typeface="Times New Roman"/>
                <a:ea typeface="Times New Roman"/>
                <a:cs typeface="Times New Roman"/>
                <a:sym typeface="Times New Roman"/>
              </a:rPr>
              <a:t>The system does not require traditional model training. Instead, it relies on prompt engineering and predefined instructions to guide the LLM’s behavior, ensuring adherence to institutional communication standards and consistent output quality.</a:t>
            </a:r>
            <a:endParaRPr sz="1800">
              <a:latin typeface="Times New Roman"/>
              <a:ea typeface="Times New Roman"/>
              <a:cs typeface="Times New Roman"/>
              <a:sym typeface="Times New Roman"/>
            </a:endParaRPr>
          </a:p>
          <a:p>
            <a:pPr indent="0" lvl="0" marL="0" rtl="0" algn="l">
              <a:lnSpc>
                <a:spcPct val="90000"/>
              </a:lnSpc>
              <a:spcBef>
                <a:spcPts val="900"/>
              </a:spcBef>
              <a:spcAft>
                <a:spcPts val="0"/>
              </a:spcAft>
              <a:buClr>
                <a:schemeClr val="dk1"/>
              </a:buClr>
              <a:buSzPts val="1800"/>
              <a:buNone/>
            </a:pPr>
            <a:r>
              <a:rPr lang="en-IN" sz="1800">
                <a:latin typeface="Times New Roman"/>
                <a:ea typeface="Times New Roman"/>
                <a:cs typeface="Times New Roman"/>
                <a:sym typeface="Times New Roman"/>
              </a:rPr>
              <a:t>4. </a:t>
            </a:r>
            <a:r>
              <a:rPr b="1" lang="en-IN" sz="1800">
                <a:latin typeface="Times New Roman"/>
                <a:ea typeface="Times New Roman"/>
                <a:cs typeface="Times New Roman"/>
                <a:sym typeface="Times New Roman"/>
              </a:rPr>
              <a:t>Prediction / Generation Process:</a:t>
            </a:r>
            <a:endParaRPr b="1" sz="1800">
              <a:latin typeface="Times New Roman"/>
              <a:ea typeface="Times New Roman"/>
              <a:cs typeface="Times New Roman"/>
              <a:sym typeface="Times New Roman"/>
            </a:endParaRPr>
          </a:p>
          <a:p>
            <a:pPr indent="-342900" lvl="0" marL="457200" rtl="0" algn="l">
              <a:lnSpc>
                <a:spcPct val="90000"/>
              </a:lnSpc>
              <a:spcBef>
                <a:spcPts val="900"/>
              </a:spcBef>
              <a:spcAft>
                <a:spcPts val="0"/>
              </a:spcAft>
              <a:buClr>
                <a:schemeClr val="dk1"/>
              </a:buClr>
              <a:buSzPts val="1800"/>
              <a:buFont typeface="Times New Roman"/>
              <a:buChar char="•"/>
            </a:pPr>
            <a:r>
              <a:rPr lang="en-IN" sz="1800">
                <a:latin typeface="Times New Roman"/>
                <a:ea typeface="Times New Roman"/>
                <a:cs typeface="Times New Roman"/>
                <a:sym typeface="Times New Roman"/>
              </a:rPr>
              <a:t>Based on the validated inputs, the algorithm generates a complete, grammatically correct, and well-structured communication draft. If essential details are missing, the system prompts the user before final content generation.</a:t>
            </a:r>
            <a:endParaRPr sz="180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98" name="Shape 2198"/>
        <p:cNvGrpSpPr/>
        <p:nvPr/>
      </p:nvGrpSpPr>
      <p:grpSpPr>
        <a:xfrm>
          <a:off x="0" y="0"/>
          <a:ext cx="0" cy="0"/>
          <a:chOff x="0" y="0"/>
          <a:chExt cx="0" cy="0"/>
        </a:xfrm>
      </p:grpSpPr>
      <p:sp>
        <p:nvSpPr>
          <p:cNvPr id="2199" name="Google Shape;2199;p9"/>
          <p:cNvSpPr txBox="1"/>
          <p:nvPr>
            <p:ph type="title"/>
          </p:nvPr>
        </p:nvSpPr>
        <p:spPr>
          <a:xfrm>
            <a:off x="-1191" y="686594"/>
            <a:ext cx="105156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Arial"/>
              <a:buNone/>
            </a:pPr>
            <a:r>
              <a:rPr b="1" lang="en-IN" sz="4000" cap="none">
                <a:solidFill>
                  <a:srgbClr val="F1C232"/>
                </a:solidFill>
                <a:latin typeface="Arial"/>
                <a:ea typeface="Arial"/>
                <a:cs typeface="Arial"/>
                <a:sym typeface="Arial"/>
              </a:rPr>
              <a:t>ALGORITHM &amp; DEPLOYMENT:</a:t>
            </a:r>
            <a:endParaRPr sz="4000">
              <a:solidFill>
                <a:srgbClr val="F1C232"/>
              </a:solidFill>
            </a:endParaRPr>
          </a:p>
        </p:txBody>
      </p:sp>
      <p:sp>
        <p:nvSpPr>
          <p:cNvPr id="2200" name="Google Shape;2200;p9"/>
          <p:cNvSpPr txBox="1"/>
          <p:nvPr>
            <p:ph idx="1" type="body"/>
          </p:nvPr>
        </p:nvSpPr>
        <p:spPr>
          <a:xfrm>
            <a:off x="838200" y="1811550"/>
            <a:ext cx="10515600" cy="3234900"/>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900"/>
              </a:spcBef>
              <a:spcAft>
                <a:spcPts val="0"/>
              </a:spcAft>
              <a:buClr>
                <a:schemeClr val="dk1"/>
              </a:buClr>
              <a:buSzPts val="1800"/>
              <a:buNone/>
            </a:pPr>
            <a:r>
              <a:rPr b="1" lang="en-IN" sz="1800">
                <a:latin typeface="Times New Roman"/>
                <a:ea typeface="Times New Roman"/>
                <a:cs typeface="Times New Roman"/>
                <a:sym typeface="Times New Roman"/>
              </a:rPr>
              <a:t>Deployment:</a:t>
            </a:r>
            <a:endParaRPr b="1" sz="1800">
              <a:latin typeface="Times New Roman"/>
              <a:ea typeface="Times New Roman"/>
              <a:cs typeface="Times New Roman"/>
              <a:sym typeface="Times New Roman"/>
            </a:endParaRPr>
          </a:p>
          <a:p>
            <a:pPr indent="-342900" lvl="0" marL="457200" rtl="0" algn="just">
              <a:lnSpc>
                <a:spcPct val="90000"/>
              </a:lnSpc>
              <a:spcBef>
                <a:spcPts val="900"/>
              </a:spcBef>
              <a:spcAft>
                <a:spcPts val="0"/>
              </a:spcAft>
              <a:buClr>
                <a:schemeClr val="dk1"/>
              </a:buClr>
              <a:buSzPts val="1800"/>
              <a:buFont typeface="Times New Roman"/>
              <a:buChar char="•"/>
            </a:pPr>
            <a:r>
              <a:rPr lang="en-IN" sz="1800">
                <a:latin typeface="Times New Roman"/>
                <a:ea typeface="Times New Roman"/>
                <a:cs typeface="Times New Roman"/>
                <a:sym typeface="Times New Roman"/>
              </a:rPr>
              <a:t>The agent is deployed using Microsoft Copilot Studio within the Microsoft 365 cloud environment.</a:t>
            </a:r>
            <a:endParaRPr sz="1800">
              <a:latin typeface="Times New Roman"/>
              <a:ea typeface="Times New Roman"/>
              <a:cs typeface="Times New Roman"/>
              <a:sym typeface="Times New Roman"/>
            </a:endParaRPr>
          </a:p>
          <a:p>
            <a:pPr indent="0" lvl="0" marL="457200" rtl="0" algn="just">
              <a:lnSpc>
                <a:spcPct val="90000"/>
              </a:lnSpc>
              <a:spcBef>
                <a:spcPts val="900"/>
              </a:spcBef>
              <a:spcAft>
                <a:spcPts val="0"/>
              </a:spcAft>
              <a:buClr>
                <a:schemeClr val="dk1"/>
              </a:buClr>
              <a:buSzPts val="1800"/>
              <a:buNone/>
            </a:pPr>
            <a:r>
              <a:t/>
            </a:r>
            <a:endParaRPr sz="1800">
              <a:latin typeface="Times New Roman"/>
              <a:ea typeface="Times New Roman"/>
              <a:cs typeface="Times New Roman"/>
              <a:sym typeface="Times New Roman"/>
            </a:endParaRPr>
          </a:p>
          <a:p>
            <a:pPr indent="-342900" lvl="0" marL="457200" rtl="0" algn="just">
              <a:lnSpc>
                <a:spcPct val="90000"/>
              </a:lnSpc>
              <a:spcBef>
                <a:spcPts val="900"/>
              </a:spcBef>
              <a:spcAft>
                <a:spcPts val="0"/>
              </a:spcAft>
              <a:buClr>
                <a:schemeClr val="dk1"/>
              </a:buClr>
              <a:buSzPts val="1800"/>
              <a:buFont typeface="Times New Roman"/>
              <a:buChar char="•"/>
            </a:pPr>
            <a:r>
              <a:rPr lang="en-IN" sz="1800">
                <a:latin typeface="Times New Roman"/>
                <a:ea typeface="Times New Roman"/>
                <a:cs typeface="Times New Roman"/>
                <a:sym typeface="Times New Roman"/>
              </a:rPr>
              <a:t>It integrates seamlessly with Outlook and Word, enabling real-time drafting and editing of communications.</a:t>
            </a:r>
            <a:endParaRPr sz="18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01" name="Shape 2201"/>
        <p:cNvGrpSpPr/>
        <p:nvPr/>
      </p:nvGrpSpPr>
      <p:grpSpPr>
        <a:xfrm>
          <a:off x="0" y="0"/>
          <a:ext cx="0" cy="0"/>
          <a:chOff x="0" y="0"/>
          <a:chExt cx="0" cy="0"/>
        </a:xfrm>
      </p:grpSpPr>
      <p:sp>
        <p:nvSpPr>
          <p:cNvPr id="2202" name="Google Shape;2202;p10"/>
          <p:cNvSpPr txBox="1"/>
          <p:nvPr>
            <p:ph type="title"/>
          </p:nvPr>
        </p:nvSpPr>
        <p:spPr>
          <a:xfrm>
            <a:off x="-1191" y="603250"/>
            <a:ext cx="105156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Arial"/>
              <a:buNone/>
            </a:pPr>
            <a:r>
              <a:rPr b="1" lang="en-IN" sz="4000" cap="none">
                <a:solidFill>
                  <a:srgbClr val="F1C232"/>
                </a:solidFill>
                <a:latin typeface="Arial"/>
                <a:ea typeface="Arial"/>
                <a:cs typeface="Arial"/>
                <a:sym typeface="Arial"/>
              </a:rPr>
              <a:t>RESULT:</a:t>
            </a:r>
            <a:endParaRPr sz="4000">
              <a:solidFill>
                <a:srgbClr val="F1C232"/>
              </a:solidFill>
            </a:endParaRPr>
          </a:p>
        </p:txBody>
      </p:sp>
      <p:pic>
        <p:nvPicPr>
          <p:cNvPr id="2203" name="Google Shape;2203;p10"/>
          <p:cNvPicPr preferRelativeResize="0"/>
          <p:nvPr/>
        </p:nvPicPr>
        <p:blipFill rotWithShape="1">
          <a:blip r:embed="rId3">
            <a:alphaModFix/>
          </a:blip>
          <a:srcRect b="0" l="0" r="0" t="0"/>
          <a:stretch/>
        </p:blipFill>
        <p:spPr>
          <a:xfrm>
            <a:off x="2396600" y="1116875"/>
            <a:ext cx="7398800" cy="4624250"/>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04" name="Shape 2204"/>
        <p:cNvGrpSpPr/>
        <p:nvPr/>
      </p:nvGrpSpPr>
      <p:grpSpPr>
        <a:xfrm>
          <a:off x="0" y="0"/>
          <a:ext cx="0" cy="0"/>
          <a:chOff x="0" y="0"/>
          <a:chExt cx="0" cy="0"/>
        </a:xfrm>
      </p:grpSpPr>
      <p:sp>
        <p:nvSpPr>
          <p:cNvPr id="2205" name="Google Shape;2205;p11"/>
          <p:cNvSpPr txBox="1"/>
          <p:nvPr>
            <p:ph type="title"/>
          </p:nvPr>
        </p:nvSpPr>
        <p:spPr>
          <a:xfrm>
            <a:off x="-1191" y="603250"/>
            <a:ext cx="105156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Arial"/>
              <a:buNone/>
            </a:pPr>
            <a:r>
              <a:rPr b="1" lang="en-IN" sz="4000" cap="none">
                <a:solidFill>
                  <a:srgbClr val="F1C232"/>
                </a:solidFill>
                <a:latin typeface="Arial"/>
                <a:ea typeface="Arial"/>
                <a:cs typeface="Arial"/>
                <a:sym typeface="Arial"/>
              </a:rPr>
              <a:t>RESULT:</a:t>
            </a:r>
            <a:endParaRPr sz="4000">
              <a:solidFill>
                <a:srgbClr val="F1C232"/>
              </a:solidFill>
            </a:endParaRPr>
          </a:p>
        </p:txBody>
      </p:sp>
      <p:pic>
        <p:nvPicPr>
          <p:cNvPr id="2206" name="Google Shape;2206;p11"/>
          <p:cNvPicPr preferRelativeResize="0"/>
          <p:nvPr/>
        </p:nvPicPr>
        <p:blipFill rotWithShape="1">
          <a:blip r:embed="rId3">
            <a:alphaModFix/>
          </a:blip>
          <a:srcRect b="0" l="49" r="49" t="0"/>
          <a:stretch/>
        </p:blipFill>
        <p:spPr>
          <a:xfrm>
            <a:off x="2396600" y="1116875"/>
            <a:ext cx="7398800" cy="4624251"/>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07" name="Shape 2207"/>
        <p:cNvGrpSpPr/>
        <p:nvPr/>
      </p:nvGrpSpPr>
      <p:grpSpPr>
        <a:xfrm>
          <a:off x="0" y="0"/>
          <a:ext cx="0" cy="0"/>
          <a:chOff x="0" y="0"/>
          <a:chExt cx="0" cy="0"/>
        </a:xfrm>
      </p:grpSpPr>
      <p:sp>
        <p:nvSpPr>
          <p:cNvPr id="2208" name="Google Shape;2208;p12"/>
          <p:cNvSpPr txBox="1"/>
          <p:nvPr>
            <p:ph type="title"/>
          </p:nvPr>
        </p:nvSpPr>
        <p:spPr>
          <a:xfrm>
            <a:off x="-1191" y="603250"/>
            <a:ext cx="105156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Arial"/>
              <a:buNone/>
            </a:pPr>
            <a:r>
              <a:rPr b="1" lang="en-IN" sz="4000" cap="none">
                <a:solidFill>
                  <a:srgbClr val="F1C232"/>
                </a:solidFill>
                <a:latin typeface="Arial"/>
                <a:ea typeface="Arial"/>
                <a:cs typeface="Arial"/>
                <a:sym typeface="Arial"/>
              </a:rPr>
              <a:t>RESULT:</a:t>
            </a:r>
            <a:endParaRPr sz="4000">
              <a:solidFill>
                <a:srgbClr val="F1C232"/>
              </a:solidFill>
            </a:endParaRPr>
          </a:p>
        </p:txBody>
      </p:sp>
      <p:pic>
        <p:nvPicPr>
          <p:cNvPr id="2209" name="Google Shape;2209;p12"/>
          <p:cNvPicPr preferRelativeResize="0"/>
          <p:nvPr/>
        </p:nvPicPr>
        <p:blipFill rotWithShape="1">
          <a:blip r:embed="rId3">
            <a:alphaModFix/>
          </a:blip>
          <a:srcRect b="0" l="49" r="49" t="0"/>
          <a:stretch/>
        </p:blipFill>
        <p:spPr>
          <a:xfrm>
            <a:off x="2396600" y="1116875"/>
            <a:ext cx="7398800" cy="4624251"/>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10" name="Shape 2210"/>
        <p:cNvGrpSpPr/>
        <p:nvPr/>
      </p:nvGrpSpPr>
      <p:grpSpPr>
        <a:xfrm>
          <a:off x="0" y="0"/>
          <a:ext cx="0" cy="0"/>
          <a:chOff x="0" y="0"/>
          <a:chExt cx="0" cy="0"/>
        </a:xfrm>
      </p:grpSpPr>
      <p:sp>
        <p:nvSpPr>
          <p:cNvPr id="2211" name="Google Shape;2211;p13"/>
          <p:cNvSpPr txBox="1"/>
          <p:nvPr>
            <p:ph type="title"/>
          </p:nvPr>
        </p:nvSpPr>
        <p:spPr>
          <a:xfrm>
            <a:off x="-1191" y="603250"/>
            <a:ext cx="105156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Arial"/>
              <a:buNone/>
            </a:pPr>
            <a:r>
              <a:rPr b="1" lang="en-IN" sz="4000" cap="none">
                <a:solidFill>
                  <a:srgbClr val="F1C232"/>
                </a:solidFill>
                <a:latin typeface="Arial"/>
                <a:ea typeface="Arial"/>
                <a:cs typeface="Arial"/>
                <a:sym typeface="Arial"/>
              </a:rPr>
              <a:t>RESULT:</a:t>
            </a:r>
            <a:endParaRPr sz="4000">
              <a:solidFill>
                <a:srgbClr val="F1C232"/>
              </a:solidFill>
            </a:endParaRPr>
          </a:p>
        </p:txBody>
      </p:sp>
      <p:pic>
        <p:nvPicPr>
          <p:cNvPr id="2212" name="Google Shape;2212;p13"/>
          <p:cNvPicPr preferRelativeResize="0"/>
          <p:nvPr/>
        </p:nvPicPr>
        <p:blipFill rotWithShape="1">
          <a:blip r:embed="rId3">
            <a:alphaModFix/>
          </a:blip>
          <a:srcRect b="0" l="49" r="49" t="0"/>
          <a:stretch/>
        </p:blipFill>
        <p:spPr>
          <a:xfrm>
            <a:off x="2396600" y="1116875"/>
            <a:ext cx="7398800" cy="4624251"/>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13" name="Shape 2213"/>
        <p:cNvGrpSpPr/>
        <p:nvPr/>
      </p:nvGrpSpPr>
      <p:grpSpPr>
        <a:xfrm>
          <a:off x="0" y="0"/>
          <a:ext cx="0" cy="0"/>
          <a:chOff x="0" y="0"/>
          <a:chExt cx="0" cy="0"/>
        </a:xfrm>
      </p:grpSpPr>
      <p:sp>
        <p:nvSpPr>
          <p:cNvPr id="2214" name="Google Shape;2214;p14"/>
          <p:cNvSpPr txBox="1"/>
          <p:nvPr>
            <p:ph type="title"/>
          </p:nvPr>
        </p:nvSpPr>
        <p:spPr>
          <a:xfrm>
            <a:off x="-1191" y="603250"/>
            <a:ext cx="105156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Arial"/>
              <a:buNone/>
            </a:pPr>
            <a:r>
              <a:rPr b="1" lang="en-IN" sz="4000" cap="none">
                <a:solidFill>
                  <a:srgbClr val="F1C232"/>
                </a:solidFill>
                <a:latin typeface="Arial"/>
                <a:ea typeface="Arial"/>
                <a:cs typeface="Arial"/>
                <a:sym typeface="Arial"/>
              </a:rPr>
              <a:t>RESULT:</a:t>
            </a:r>
            <a:endParaRPr sz="4000">
              <a:solidFill>
                <a:srgbClr val="F1C232"/>
              </a:solidFill>
            </a:endParaRPr>
          </a:p>
        </p:txBody>
      </p:sp>
      <p:pic>
        <p:nvPicPr>
          <p:cNvPr id="2215" name="Google Shape;2215;p14"/>
          <p:cNvPicPr preferRelativeResize="0"/>
          <p:nvPr/>
        </p:nvPicPr>
        <p:blipFill rotWithShape="1">
          <a:blip r:embed="rId3">
            <a:alphaModFix/>
          </a:blip>
          <a:srcRect b="0" l="49" r="49" t="0"/>
          <a:stretch/>
        </p:blipFill>
        <p:spPr>
          <a:xfrm>
            <a:off x="2396600" y="1116875"/>
            <a:ext cx="7398800" cy="4624251"/>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16" name="Shape 2216"/>
        <p:cNvGrpSpPr/>
        <p:nvPr/>
      </p:nvGrpSpPr>
      <p:grpSpPr>
        <a:xfrm>
          <a:off x="0" y="0"/>
          <a:ext cx="0" cy="0"/>
          <a:chOff x="0" y="0"/>
          <a:chExt cx="0" cy="0"/>
        </a:xfrm>
      </p:grpSpPr>
      <p:sp>
        <p:nvSpPr>
          <p:cNvPr id="2217" name="Google Shape;2217;p15"/>
          <p:cNvSpPr txBox="1"/>
          <p:nvPr>
            <p:ph type="title"/>
          </p:nvPr>
        </p:nvSpPr>
        <p:spPr>
          <a:xfrm>
            <a:off x="-1191" y="603250"/>
            <a:ext cx="105156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Arial"/>
              <a:buNone/>
            </a:pPr>
            <a:r>
              <a:rPr b="1" lang="en-IN" sz="4000" cap="none">
                <a:solidFill>
                  <a:srgbClr val="F1C232"/>
                </a:solidFill>
                <a:latin typeface="Arial"/>
                <a:ea typeface="Arial"/>
                <a:cs typeface="Arial"/>
                <a:sym typeface="Arial"/>
              </a:rPr>
              <a:t>RESULT:</a:t>
            </a:r>
            <a:endParaRPr sz="4000">
              <a:solidFill>
                <a:srgbClr val="F1C232"/>
              </a:solidFill>
            </a:endParaRPr>
          </a:p>
        </p:txBody>
      </p:sp>
      <p:pic>
        <p:nvPicPr>
          <p:cNvPr id="2218" name="Google Shape;2218;p15"/>
          <p:cNvPicPr preferRelativeResize="0"/>
          <p:nvPr/>
        </p:nvPicPr>
        <p:blipFill rotWithShape="1">
          <a:blip r:embed="rId3">
            <a:alphaModFix/>
          </a:blip>
          <a:srcRect b="0" l="0" r="0" t="0"/>
          <a:stretch/>
        </p:blipFill>
        <p:spPr>
          <a:xfrm>
            <a:off x="2396600" y="1116875"/>
            <a:ext cx="7398800" cy="4624250"/>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25" name="Shape 2225"/>
        <p:cNvGrpSpPr/>
        <p:nvPr/>
      </p:nvGrpSpPr>
      <p:grpSpPr>
        <a:xfrm>
          <a:off x="0" y="0"/>
          <a:ext cx="0" cy="0"/>
          <a:chOff x="0" y="0"/>
          <a:chExt cx="0" cy="0"/>
        </a:xfrm>
      </p:grpSpPr>
      <p:sp>
        <p:nvSpPr>
          <p:cNvPr id="2226" name="Google Shape;2226;p17"/>
          <p:cNvSpPr txBox="1"/>
          <p:nvPr>
            <p:ph type="title"/>
          </p:nvPr>
        </p:nvSpPr>
        <p:spPr>
          <a:xfrm>
            <a:off x="-1191" y="603250"/>
            <a:ext cx="105156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Arial"/>
              <a:buNone/>
            </a:pPr>
            <a:r>
              <a:rPr b="1" lang="en-IN" sz="4000" cap="none">
                <a:solidFill>
                  <a:srgbClr val="F1C232"/>
                </a:solidFill>
                <a:latin typeface="Arial"/>
                <a:ea typeface="Arial"/>
                <a:cs typeface="Arial"/>
                <a:sym typeface="Arial"/>
              </a:rPr>
              <a:t>RESULT:</a:t>
            </a:r>
            <a:endParaRPr sz="4000">
              <a:solidFill>
                <a:srgbClr val="F1C232"/>
              </a:solidFill>
            </a:endParaRPr>
          </a:p>
        </p:txBody>
      </p:sp>
      <p:pic>
        <p:nvPicPr>
          <p:cNvPr id="2227" name="Google Shape;2227;p17"/>
          <p:cNvPicPr preferRelativeResize="0"/>
          <p:nvPr/>
        </p:nvPicPr>
        <p:blipFill rotWithShape="1">
          <a:blip r:embed="rId3">
            <a:alphaModFix/>
          </a:blip>
          <a:srcRect b="0" l="99" r="99" t="0"/>
          <a:stretch/>
        </p:blipFill>
        <p:spPr>
          <a:xfrm>
            <a:off x="2396600" y="1116875"/>
            <a:ext cx="7398800" cy="4624250"/>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